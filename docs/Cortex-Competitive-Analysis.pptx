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0F172A"/>
                </a:solidFill>
                <a:latin typeface="Arial"/>
              </a:defRPr>
            </a:pPr>
            <a:r>
              <a:rPr sz="1100" b="0" i="0" u="none" strike="noStrike">
                <a:solidFill>
                  <a:srgbClr val="0F172A"/>
                </a:solidFill>
                <a:latin typeface="Arial"/>
              </a:rPr>
              <a:t>Serviceable obtainable market (ARR, $M)</a:t>
            </a:r>
          </a:p>
        </c:rich>
      </c:tx>
      <c:layout/>
      <c:overlay val="0"/>
    </c:title>
    <c:autoTitleDeleted val="0"/>
    <c:plotArea>
      <c:layout/>
      <c:barChart>
        <c:barDir val="col"/>
        <c:grouping val="clustered"/>
        <c:varyColors val="0"/>
        <c:ser>
          <c:idx val="0"/>
          <c:order val="0"/>
          <c:tx>
            <c:strRef>
              <c:f>Sheet1!$B$1</c:f>
              <c:strCache>
                <c:ptCount val="1"/>
                <c:pt idx="0">
                  <c:v>ARR ($M)</c:v>
                </c:pt>
              </c:strCache>
            </c:strRef>
          </c:tx>
          <c:spPr>
            <a:solidFill>
              <a:srgbClr val="4F46E5"/>
            </a:solidFill>
            <a:effectLst/>
          </c:spPr>
          <c:invertIfNegative val="0"/>
          <c:dLbls>
            <c:numFmt formatCode="$#,##0.0&quot;M&quot;"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multiLvlStrRef>
              <c:f>Sheet1!$A$2:$A$5</c:f>
              <c:multiLvlStrCache>
                <c:ptCount val="4"/>
                <c:lvl>
                  <c:pt idx="0">
                    <c:v>Y1
Power users</c:v>
                  </c:pt>
                  <c:pt idx="1">
                    <c:v>Y2
Mid-mkt teams</c:v>
                  </c:pt>
                  <c:pt idx="2">
                    <c:v>Y3
Enterprise
on-prem</c:v>
                  </c:pt>
                  <c:pt idx="3">
                    <c:v>Y5
Combined SOM</c:v>
                  </c:pt>
                </c:lvl>
              </c:multiLvlStrCache>
            </c:multiLvlStrRef>
          </c:cat>
          <c:val>
            <c:numRef>
              <c:f>Sheet1!$B$2:$B$5</c:f>
              <c:numCache>
                <c:formatCode>General</c:formatCode>
                <c:ptCount val="4"/>
                <c:pt idx="0">
                  <c:v>0.4</c:v>
                </c:pt>
                <c:pt idx="1">
                  <c:v>2.5</c:v>
                </c:pt>
                <c:pt idx="2">
                  <c:v>5</c:v>
                </c:pt>
                <c:pt idx="3">
                  <c:v>15</c:v>
                </c:pt>
              </c:numCache>
            </c:numRef>
          </c:val>
        </c:ser>
        <c:dLbls>
          <c:numFmt formatCode="$#,##0.0&quot;M&quot;"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F46E5"/>
          </a:solidFill>
          <a:ln/>
        </p:spPr>
      </p:sp>
      <p:pic>
        <p:nvPicPr>
          <p:cNvPr id="3" name="Image 0" descr="preencoded.png">    </p:cNvPr>
          <p:cNvPicPr>
            <a:picLocks noChangeAspect="1"/>
          </p:cNvPicPr>
          <p:nvPr/>
        </p:nvPicPr>
        <p:blipFill>
          <a:blip r:embed="rId1"/>
          <a:stretch>
            <a:fillRect/>
          </a:stretch>
        </p:blipFill>
        <p:spPr>
          <a:xfrm>
            <a:off x="822960" y="640080"/>
            <a:ext cx="640080" cy="640080"/>
          </a:xfrm>
          <a:prstGeom prst="rect">
            <a:avLst/>
          </a:prstGeom>
        </p:spPr>
      </p:pic>
      <p:sp>
        <p:nvSpPr>
          <p:cNvPr id="4" name="Text 1"/>
          <p:cNvSpPr/>
          <p:nvPr/>
        </p:nvSpPr>
        <p:spPr>
          <a:xfrm>
            <a:off x="1600200" y="640080"/>
            <a:ext cx="5486400" cy="640080"/>
          </a:xfrm>
          <a:prstGeom prst="rect">
            <a:avLst/>
          </a:prstGeom>
          <a:noFill/>
          <a:ln/>
        </p:spPr>
        <p:txBody>
          <a:bodyPr wrap="square" lIns="0" tIns="0" rIns="0" bIns="0" rtlCol="0" anchor="ctr"/>
          <a:lstStyle/>
          <a:p>
            <a:pPr indent="0" marL="0">
              <a:buNone/>
            </a:pPr>
            <a:r>
              <a:rPr lang="en-US" sz="2200" b="1" spc="800" kern="0" dirty="0">
                <a:solidFill>
                  <a:srgbClr val="FFFFFF"/>
                </a:solidFill>
                <a:latin typeface="Calibri" pitchFamily="34" charset="0"/>
                <a:ea typeface="Calibri" pitchFamily="34" charset="-122"/>
                <a:cs typeface="Calibri" pitchFamily="34" charset="-120"/>
              </a:rPr>
              <a:t>CORTEX</a:t>
            </a:r>
            <a:endParaRPr lang="en-US" sz="2200" dirty="0"/>
          </a:p>
        </p:txBody>
      </p:sp>
      <p:sp>
        <p:nvSpPr>
          <p:cNvPr id="5" name="Text 2"/>
          <p:cNvSpPr/>
          <p:nvPr/>
        </p:nvSpPr>
        <p:spPr>
          <a:xfrm>
            <a:off x="822960" y="1737360"/>
            <a:ext cx="7772400" cy="73152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Competitive Market Analysis</a:t>
            </a:r>
            <a:endParaRPr lang="en-US" sz="4200" dirty="0"/>
          </a:p>
        </p:txBody>
      </p:sp>
      <p:sp>
        <p:nvSpPr>
          <p:cNvPr id="6" name="Text 3"/>
          <p:cNvSpPr/>
          <p:nvPr/>
        </p:nvSpPr>
        <p:spPr>
          <a:xfrm>
            <a:off x="822960" y="2560320"/>
            <a:ext cx="7772400" cy="45720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Strategic positioning &amp; investor readiness across four converging segments</a:t>
            </a:r>
            <a:endParaRPr lang="en-US" sz="1600" dirty="0"/>
          </a:p>
        </p:txBody>
      </p:sp>
      <p:sp>
        <p:nvSpPr>
          <p:cNvPr id="7" name="Shape 4"/>
          <p:cNvSpPr/>
          <p:nvPr/>
        </p:nvSpPr>
        <p:spPr>
          <a:xfrm>
            <a:off x="822960" y="3200400"/>
            <a:ext cx="1371600" cy="36576"/>
          </a:xfrm>
          <a:prstGeom prst="rect">
            <a:avLst/>
          </a:prstGeom>
          <a:solidFill>
            <a:srgbClr val="F59E0B"/>
          </a:solidFill>
          <a:ln/>
        </p:spPr>
      </p:sp>
      <p:sp>
        <p:nvSpPr>
          <p:cNvPr id="8" name="Text 5"/>
          <p:cNvSpPr/>
          <p:nvPr/>
        </p:nvSpPr>
        <p:spPr>
          <a:xfrm>
            <a:off x="822960" y="3429000"/>
            <a:ext cx="1828800" cy="228600"/>
          </a:xfrm>
          <a:prstGeom prst="rect">
            <a:avLst/>
          </a:prstGeom>
          <a:noFill/>
          <a:ln/>
        </p:spPr>
        <p:txBody>
          <a:bodyPr wrap="square" lIns="0" tIns="0" rIns="0" bIns="0" rtlCol="0" anchor="ctr"/>
          <a:lstStyle/>
          <a:p>
            <a:pPr indent="0" marL="0">
              <a:buNone/>
            </a:pPr>
            <a:r>
              <a:rPr lang="en-US" sz="900" b="1" spc="400" kern="0" dirty="0">
                <a:solidFill>
                  <a:srgbClr val="CBD5E1"/>
                </a:solidFill>
                <a:latin typeface="Calibri" pitchFamily="34" charset="0"/>
                <a:ea typeface="Calibri" pitchFamily="34" charset="-122"/>
                <a:cs typeface="Calibri" pitchFamily="34" charset="-120"/>
              </a:rPr>
              <a:t>PREPARED</a:t>
            </a:r>
            <a:endParaRPr lang="en-US" sz="900" dirty="0"/>
          </a:p>
        </p:txBody>
      </p:sp>
      <p:sp>
        <p:nvSpPr>
          <p:cNvPr id="9" name="Text 6"/>
          <p:cNvSpPr/>
          <p:nvPr/>
        </p:nvSpPr>
        <p:spPr>
          <a:xfrm>
            <a:off x="822960" y="365760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May 2026</a:t>
            </a:r>
            <a:endParaRPr lang="en-US" sz="1400" dirty="0"/>
          </a:p>
        </p:txBody>
      </p:sp>
      <p:sp>
        <p:nvSpPr>
          <p:cNvPr id="10" name="Text 7"/>
          <p:cNvSpPr/>
          <p:nvPr/>
        </p:nvSpPr>
        <p:spPr>
          <a:xfrm>
            <a:off x="2788920" y="3429000"/>
            <a:ext cx="1828800" cy="228600"/>
          </a:xfrm>
          <a:prstGeom prst="rect">
            <a:avLst/>
          </a:prstGeom>
          <a:noFill/>
          <a:ln/>
        </p:spPr>
        <p:txBody>
          <a:bodyPr wrap="square" lIns="0" tIns="0" rIns="0" bIns="0" rtlCol="0" anchor="ctr"/>
          <a:lstStyle/>
          <a:p>
            <a:pPr indent="0" marL="0">
              <a:buNone/>
            </a:pPr>
            <a:r>
              <a:rPr lang="en-US" sz="900" b="1" spc="400" kern="0" dirty="0">
                <a:solidFill>
                  <a:srgbClr val="CBD5E1"/>
                </a:solidFill>
                <a:latin typeface="Calibri" pitchFamily="34" charset="0"/>
                <a:ea typeface="Calibri" pitchFamily="34" charset="-122"/>
                <a:cs typeface="Calibri" pitchFamily="34" charset="-120"/>
              </a:rPr>
              <a:t>AUDIENCE</a:t>
            </a:r>
            <a:endParaRPr lang="en-US" sz="900" dirty="0"/>
          </a:p>
        </p:txBody>
      </p:sp>
      <p:sp>
        <p:nvSpPr>
          <p:cNvPr id="11" name="Text 8"/>
          <p:cNvSpPr/>
          <p:nvPr/>
        </p:nvSpPr>
        <p:spPr>
          <a:xfrm>
            <a:off x="2788920" y="365760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Founder + investors</a:t>
            </a:r>
            <a:endParaRPr lang="en-US" sz="1400" dirty="0"/>
          </a:p>
        </p:txBody>
      </p:sp>
      <p:sp>
        <p:nvSpPr>
          <p:cNvPr id="12" name="Text 9"/>
          <p:cNvSpPr/>
          <p:nvPr/>
        </p:nvSpPr>
        <p:spPr>
          <a:xfrm>
            <a:off x="4754880" y="3429000"/>
            <a:ext cx="1828800" cy="228600"/>
          </a:xfrm>
          <a:prstGeom prst="rect">
            <a:avLst/>
          </a:prstGeom>
          <a:noFill/>
          <a:ln/>
        </p:spPr>
        <p:txBody>
          <a:bodyPr wrap="square" lIns="0" tIns="0" rIns="0" bIns="0" rtlCol="0" anchor="ctr"/>
          <a:lstStyle/>
          <a:p>
            <a:pPr indent="0" marL="0">
              <a:buNone/>
            </a:pPr>
            <a:r>
              <a:rPr lang="en-US" sz="900" b="1" spc="400" kern="0" dirty="0">
                <a:solidFill>
                  <a:srgbClr val="CBD5E1"/>
                </a:solidFill>
                <a:latin typeface="Calibri" pitchFamily="34" charset="0"/>
                <a:ea typeface="Calibri" pitchFamily="34" charset="-122"/>
                <a:cs typeface="Calibri" pitchFamily="34" charset="-120"/>
              </a:rPr>
              <a:t>SCOPE</a:t>
            </a:r>
            <a:endParaRPr lang="en-US" sz="900" dirty="0"/>
          </a:p>
        </p:txBody>
      </p:sp>
      <p:sp>
        <p:nvSpPr>
          <p:cNvPr id="13" name="Text 10"/>
          <p:cNvSpPr/>
          <p:nvPr/>
        </p:nvSpPr>
        <p:spPr>
          <a:xfrm>
            <a:off x="4754880" y="365760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4 segments · 14 competitors</a:t>
            </a:r>
            <a:endParaRPr lang="en-US" sz="1400" dirty="0"/>
          </a:p>
        </p:txBody>
      </p:sp>
      <p:sp>
        <p:nvSpPr>
          <p:cNvPr id="14" name="Text 11"/>
          <p:cNvSpPr/>
          <p:nvPr/>
        </p:nvSpPr>
        <p:spPr>
          <a:xfrm>
            <a:off x="6720840" y="3429000"/>
            <a:ext cx="1828800" cy="228600"/>
          </a:xfrm>
          <a:prstGeom prst="rect">
            <a:avLst/>
          </a:prstGeom>
          <a:noFill/>
          <a:ln/>
        </p:spPr>
        <p:txBody>
          <a:bodyPr wrap="square" lIns="0" tIns="0" rIns="0" bIns="0" rtlCol="0" anchor="ctr"/>
          <a:lstStyle/>
          <a:p>
            <a:pPr indent="0" marL="0">
              <a:buNone/>
            </a:pPr>
            <a:r>
              <a:rPr lang="en-US" sz="900" b="1" spc="400" kern="0" dirty="0">
                <a:solidFill>
                  <a:srgbClr val="CBD5E1"/>
                </a:solidFill>
                <a:latin typeface="Calibri" pitchFamily="34" charset="0"/>
                <a:ea typeface="Calibri" pitchFamily="34" charset="-122"/>
                <a:cs typeface="Calibri" pitchFamily="34" charset="-120"/>
              </a:rPr>
              <a:t>VERSION ANALYZED</a:t>
            </a:r>
            <a:endParaRPr lang="en-US" sz="900" dirty="0"/>
          </a:p>
        </p:txBody>
      </p:sp>
      <p:sp>
        <p:nvSpPr>
          <p:cNvPr id="15" name="Text 12"/>
          <p:cNvSpPr/>
          <p:nvPr/>
        </p:nvSpPr>
        <p:spPr>
          <a:xfrm>
            <a:off x="6720840" y="365760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Cortex 0.2</a:t>
            </a:r>
            <a:endParaRPr lang="en-US" sz="1400" dirty="0"/>
          </a:p>
        </p:txBody>
      </p:sp>
      <p:sp>
        <p:nvSpPr>
          <p:cNvPr id="16" name="Text 13"/>
          <p:cNvSpPr/>
          <p:nvPr/>
        </p:nvSpPr>
        <p:spPr>
          <a:xfrm>
            <a:off x="822960" y="4663440"/>
            <a:ext cx="77724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OneNomad · self-hosted MCP-native knowledge OS for AI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45720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The thesis</a:t>
            </a:r>
            <a:endParaRPr lang="en-US" sz="12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Why Cortex, why now</a:t>
            </a:r>
            <a:endParaRPr lang="en-US" sz="3200" dirty="0"/>
          </a:p>
        </p:txBody>
      </p:sp>
      <p:sp>
        <p:nvSpPr>
          <p:cNvPr id="4" name="Shape 2"/>
          <p:cNvSpPr/>
          <p:nvPr/>
        </p:nvSpPr>
        <p:spPr>
          <a:xfrm>
            <a:off x="457200" y="1371600"/>
            <a:ext cx="54864" cy="1645920"/>
          </a:xfrm>
          <a:prstGeom prst="rect">
            <a:avLst/>
          </a:prstGeom>
          <a:solidFill>
            <a:srgbClr val="4F46E5"/>
          </a:solidFill>
          <a:ln/>
        </p:spPr>
      </p:sp>
      <p:sp>
        <p:nvSpPr>
          <p:cNvPr id="5" name="Text 3"/>
          <p:cNvSpPr/>
          <p:nvPr/>
        </p:nvSpPr>
        <p:spPr>
          <a:xfrm>
            <a:off x="777240" y="1371600"/>
            <a:ext cx="7772400" cy="1645920"/>
          </a:xfrm>
          <a:prstGeom prst="rect">
            <a:avLst/>
          </a:prstGeom>
          <a:noFill/>
          <a:ln/>
        </p:spPr>
        <p:txBody>
          <a:bodyPr wrap="square" lIns="0" tIns="0" rIns="0" bIns="0" rtlCol="0" anchor="ctr"/>
          <a:lstStyle/>
          <a:p>
            <a:pPr indent="0" marL="0">
              <a:lnSpc>
                <a:spcPct val="125000"/>
              </a:lnSpc>
              <a:buNone/>
            </a:pPr>
            <a:r>
              <a:rPr lang="en-US" sz="1800" dirty="0">
                <a:solidFill>
                  <a:srgbClr val="0F172A"/>
                </a:solidFill>
                <a:latin typeface="Calibri" pitchFamily="34" charset="0"/>
                <a:ea typeface="Calibri" pitchFamily="34" charset="-122"/>
                <a:cs typeface="Calibri" pitchFamily="34" charset="-120"/>
              </a:rPr>
              <a:t>The AI agent economy needs a knowledge layer the user owns. Enterprise search is locked behind cloud SaaS. AI memory is locked behind hosted SDKs. Both flanks tie the user's data, LLM choice, and agent choice to a single vendor.</a:t>
            </a:r>
            <a:endParaRPr lang="en-US" sz="1800" dirty="0"/>
          </a:p>
        </p:txBody>
      </p:sp>
      <p:sp>
        <p:nvSpPr>
          <p:cNvPr id="6" name="Shape 4"/>
          <p:cNvSpPr/>
          <p:nvPr/>
        </p:nvSpPr>
        <p:spPr>
          <a:xfrm>
            <a:off x="457200" y="3291840"/>
            <a:ext cx="8229600" cy="1188720"/>
          </a:xfrm>
          <a:prstGeom prst="rect">
            <a:avLst/>
          </a:prstGeom>
          <a:solidFill>
            <a:srgbClr val="0A1628"/>
          </a:solidFill>
          <a:ln/>
        </p:spPr>
      </p:sp>
      <p:sp>
        <p:nvSpPr>
          <p:cNvPr id="7" name="Text 5"/>
          <p:cNvSpPr/>
          <p:nvPr/>
        </p:nvSpPr>
        <p:spPr>
          <a:xfrm>
            <a:off x="777240" y="3383280"/>
            <a:ext cx="7589520" cy="640080"/>
          </a:xfrm>
          <a:prstGeom prst="rect">
            <a:avLst/>
          </a:prstGeom>
          <a:noFill/>
          <a:ln/>
        </p:spPr>
        <p:txBody>
          <a:bodyPr wrap="square" lIns="0" tIns="0" rIns="0" bIns="0" rtlCol="0" anchor="ctr"/>
          <a:lstStyle/>
          <a:p>
            <a:pPr indent="0" marL="0">
              <a:buNone/>
            </a:pPr>
            <a:r>
              <a:rPr lang="en-US" sz="1800" b="1" i="1" dirty="0">
                <a:solidFill>
                  <a:srgbClr val="FFFFFF"/>
                </a:solidFill>
                <a:latin typeface="Calibri" pitchFamily="34" charset="0"/>
                <a:ea typeface="Calibri" pitchFamily="34" charset="-122"/>
                <a:cs typeface="Calibri" pitchFamily="34" charset="-120"/>
              </a:rPr>
              <a:t>Cortex is the first composable, self-hosted, MCP-native knowledge OS that decouples those three choices.</a:t>
            </a:r>
            <a:endParaRPr lang="en-US" sz="1800" dirty="0"/>
          </a:p>
        </p:txBody>
      </p:sp>
      <p:sp>
        <p:nvSpPr>
          <p:cNvPr id="8" name="Text 6"/>
          <p:cNvSpPr/>
          <p:nvPr/>
        </p:nvSpPr>
        <p:spPr>
          <a:xfrm>
            <a:off x="777240" y="3977640"/>
            <a:ext cx="7589520" cy="365760"/>
          </a:xfrm>
          <a:prstGeom prst="rect">
            <a:avLst/>
          </a:prstGeom>
          <a:noFill/>
          <a:ln/>
        </p:spPr>
        <p:txBody>
          <a:bodyPr wrap="square" lIns="0" tIns="0" rIns="0" bIns="0" rtlCol="0" anchor="ctr"/>
          <a:lstStyle/>
          <a:p>
            <a:pPr indent="0" marL="0">
              <a:buNone/>
            </a:pPr>
            <a:r>
              <a:rPr lang="en-US" sz="1100" spc="200" kern="0" dirty="0">
                <a:solidFill>
                  <a:srgbClr val="F59E0B"/>
                </a:solidFill>
                <a:latin typeface="Calibri" pitchFamily="34" charset="0"/>
                <a:ea typeface="Calibri" pitchFamily="34" charset="-122"/>
                <a:cs typeface="Calibri" pitchFamily="34" charset="-120"/>
              </a:rPr>
              <a:t>Self-hosted by default · MCP-native · BYO LLM · Workspace-isolated</a:t>
            </a:r>
            <a:endParaRPr lang="en-US" sz="1100" dirty="0"/>
          </a:p>
        </p:txBody>
      </p:sp>
      <p:sp>
        <p:nvSpPr>
          <p:cNvPr id="9" name="Text 7"/>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15</a:t>
            </a:r>
            <a:endParaRPr lang="en-US" sz="900" dirty="0"/>
          </a:p>
        </p:txBody>
      </p:sp>
      <p:sp>
        <p:nvSpPr>
          <p:cNvPr id="10" name="Text 8"/>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01 — Thesis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45720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Cortex today</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Shipped surface area, May 2026</a:t>
            </a:r>
            <a:endParaRPr lang="en-US" sz="2800" dirty="0"/>
          </a:p>
        </p:txBody>
      </p:sp>
      <p:sp>
        <p:nvSpPr>
          <p:cNvPr id="4" name="Shape 2"/>
          <p:cNvSpPr/>
          <p:nvPr/>
        </p:nvSpPr>
        <p:spPr>
          <a:xfrm>
            <a:off x="457200" y="1371600"/>
            <a:ext cx="1874520" cy="146304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457200" y="1463040"/>
            <a:ext cx="1874520" cy="548640"/>
          </a:xfrm>
          <a:prstGeom prst="rect">
            <a:avLst/>
          </a:prstGeom>
          <a:noFill/>
          <a:ln/>
        </p:spPr>
        <p:txBody>
          <a:bodyPr wrap="square" lIns="0" tIns="0" rIns="0" bIns="0" rtlCol="0" anchor="ctr"/>
          <a:lstStyle/>
          <a:p>
            <a:pPr algn="ctr" indent="0" marL="0">
              <a:buNone/>
            </a:pPr>
            <a:r>
              <a:rPr lang="en-US" sz="4800" b="1" dirty="0">
                <a:solidFill>
                  <a:srgbClr val="4F46E5"/>
                </a:solidFill>
                <a:latin typeface="Calibri" pitchFamily="34" charset="0"/>
                <a:ea typeface="Calibri" pitchFamily="34" charset="-122"/>
                <a:cs typeface="Calibri" pitchFamily="34" charset="-120"/>
              </a:rPr>
              <a:t>12</a:t>
            </a:r>
            <a:endParaRPr lang="en-US" sz="4800" dirty="0"/>
          </a:p>
        </p:txBody>
      </p:sp>
      <p:sp>
        <p:nvSpPr>
          <p:cNvPr id="6" name="Text 4"/>
          <p:cNvSpPr/>
          <p:nvPr/>
        </p:nvSpPr>
        <p:spPr>
          <a:xfrm>
            <a:off x="457200" y="2029968"/>
            <a:ext cx="1874520" cy="274320"/>
          </a:xfrm>
          <a:prstGeom prst="rect">
            <a:avLst/>
          </a:prstGeom>
          <a:noFill/>
          <a:ln/>
        </p:spPr>
        <p:txBody>
          <a:bodyPr wrap="square" lIns="0" tIns="0" rIns="0" bIns="0" rtlCol="0" anchor="ctr"/>
          <a:lstStyle/>
          <a:p>
            <a:pPr algn="ctr" indent="0" marL="0">
              <a:buNone/>
            </a:pPr>
            <a:r>
              <a:rPr lang="en-US" sz="1100" b="1" spc="200" kern="0" dirty="0">
                <a:solidFill>
                  <a:srgbClr val="0F172A"/>
                </a:solidFill>
                <a:latin typeface="Calibri" pitchFamily="34" charset="0"/>
                <a:ea typeface="Calibri" pitchFamily="34" charset="-122"/>
                <a:cs typeface="Calibri" pitchFamily="34" charset="-120"/>
              </a:rPr>
              <a:t>source adapters</a:t>
            </a:r>
            <a:endParaRPr lang="en-US" sz="1100" dirty="0"/>
          </a:p>
        </p:txBody>
      </p:sp>
      <p:sp>
        <p:nvSpPr>
          <p:cNvPr id="7" name="Text 5"/>
          <p:cNvSpPr/>
          <p:nvPr/>
        </p:nvSpPr>
        <p:spPr>
          <a:xfrm>
            <a:off x="548640" y="2331720"/>
            <a:ext cx="1691640" cy="4572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Confluence, Jira, Linear, Loom, Notion, Obsidian, Calendar, Drive, Gmail, Bitbucket, GitHub, Slack</a:t>
            </a:r>
            <a:endParaRPr lang="en-US" sz="800" dirty="0"/>
          </a:p>
        </p:txBody>
      </p:sp>
      <p:sp>
        <p:nvSpPr>
          <p:cNvPr id="8" name="Shape 6"/>
          <p:cNvSpPr/>
          <p:nvPr/>
        </p:nvSpPr>
        <p:spPr>
          <a:xfrm>
            <a:off x="2514600" y="1371600"/>
            <a:ext cx="1874520" cy="146304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9" name="Text 7"/>
          <p:cNvSpPr/>
          <p:nvPr/>
        </p:nvSpPr>
        <p:spPr>
          <a:xfrm>
            <a:off x="2514600" y="1463040"/>
            <a:ext cx="1874520" cy="548640"/>
          </a:xfrm>
          <a:prstGeom prst="rect">
            <a:avLst/>
          </a:prstGeom>
          <a:noFill/>
          <a:ln/>
        </p:spPr>
        <p:txBody>
          <a:bodyPr wrap="square" lIns="0" tIns="0" rIns="0" bIns="0" rtlCol="0" anchor="ctr"/>
          <a:lstStyle/>
          <a:p>
            <a:pPr algn="ctr" indent="0" marL="0">
              <a:buNone/>
            </a:pPr>
            <a:r>
              <a:rPr lang="en-US" sz="4800" b="1" dirty="0">
                <a:solidFill>
                  <a:srgbClr val="4F46E5"/>
                </a:solidFill>
                <a:latin typeface="Calibri" pitchFamily="34" charset="0"/>
                <a:ea typeface="Calibri" pitchFamily="34" charset="-122"/>
                <a:cs typeface="Calibri" pitchFamily="34" charset="-120"/>
              </a:rPr>
              <a:t>5</a:t>
            </a:r>
            <a:endParaRPr lang="en-US" sz="4800" dirty="0"/>
          </a:p>
        </p:txBody>
      </p:sp>
      <p:sp>
        <p:nvSpPr>
          <p:cNvPr id="10" name="Text 8"/>
          <p:cNvSpPr/>
          <p:nvPr/>
        </p:nvSpPr>
        <p:spPr>
          <a:xfrm>
            <a:off x="2514600" y="2029968"/>
            <a:ext cx="1874520" cy="274320"/>
          </a:xfrm>
          <a:prstGeom prst="rect">
            <a:avLst/>
          </a:prstGeom>
          <a:noFill/>
          <a:ln/>
        </p:spPr>
        <p:txBody>
          <a:bodyPr wrap="square" lIns="0" tIns="0" rIns="0" bIns="0" rtlCol="0" anchor="ctr"/>
          <a:lstStyle/>
          <a:p>
            <a:pPr algn="ctr" indent="0" marL="0">
              <a:buNone/>
            </a:pPr>
            <a:r>
              <a:rPr lang="en-US" sz="1100" b="1" spc="200" kern="0" dirty="0">
                <a:solidFill>
                  <a:srgbClr val="0F172A"/>
                </a:solidFill>
                <a:latin typeface="Calibri" pitchFamily="34" charset="0"/>
                <a:ea typeface="Calibri" pitchFamily="34" charset="-122"/>
                <a:cs typeface="Calibri" pitchFamily="34" charset="-120"/>
              </a:rPr>
              <a:t>pipelines</a:t>
            </a:r>
            <a:endParaRPr lang="en-US" sz="1100" dirty="0"/>
          </a:p>
        </p:txBody>
      </p:sp>
      <p:sp>
        <p:nvSpPr>
          <p:cNvPr id="11" name="Text 9"/>
          <p:cNvSpPr/>
          <p:nvPr/>
        </p:nvSpPr>
        <p:spPr>
          <a:xfrm>
            <a:off x="2606040" y="2331720"/>
            <a:ext cx="1691640" cy="4572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doc · meeting (3-pass) · code · conversation · research</a:t>
            </a:r>
            <a:endParaRPr lang="en-US" sz="800" dirty="0"/>
          </a:p>
        </p:txBody>
      </p:sp>
      <p:sp>
        <p:nvSpPr>
          <p:cNvPr id="12" name="Shape 10"/>
          <p:cNvSpPr/>
          <p:nvPr/>
        </p:nvSpPr>
        <p:spPr>
          <a:xfrm>
            <a:off x="4572000" y="1371600"/>
            <a:ext cx="1874520" cy="146304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4572000" y="1463040"/>
            <a:ext cx="1874520" cy="548640"/>
          </a:xfrm>
          <a:prstGeom prst="rect">
            <a:avLst/>
          </a:prstGeom>
          <a:noFill/>
          <a:ln/>
        </p:spPr>
        <p:txBody>
          <a:bodyPr wrap="square" lIns="0" tIns="0" rIns="0" bIns="0" rtlCol="0" anchor="ctr"/>
          <a:lstStyle/>
          <a:p>
            <a:pPr algn="ctr" indent="0" marL="0">
              <a:buNone/>
            </a:pPr>
            <a:r>
              <a:rPr lang="en-US" sz="4800" b="1" dirty="0">
                <a:solidFill>
                  <a:srgbClr val="4F46E5"/>
                </a:solidFill>
                <a:latin typeface="Calibri" pitchFamily="34" charset="0"/>
                <a:ea typeface="Calibri" pitchFamily="34" charset="-122"/>
                <a:cs typeface="Calibri" pitchFamily="34" charset="-120"/>
              </a:rPr>
              <a:t>~30</a:t>
            </a:r>
            <a:endParaRPr lang="en-US" sz="4800" dirty="0"/>
          </a:p>
        </p:txBody>
      </p:sp>
      <p:sp>
        <p:nvSpPr>
          <p:cNvPr id="14" name="Text 12"/>
          <p:cNvSpPr/>
          <p:nvPr/>
        </p:nvSpPr>
        <p:spPr>
          <a:xfrm>
            <a:off x="4572000" y="2029968"/>
            <a:ext cx="1874520" cy="274320"/>
          </a:xfrm>
          <a:prstGeom prst="rect">
            <a:avLst/>
          </a:prstGeom>
          <a:noFill/>
          <a:ln/>
        </p:spPr>
        <p:txBody>
          <a:bodyPr wrap="square" lIns="0" tIns="0" rIns="0" bIns="0" rtlCol="0" anchor="ctr"/>
          <a:lstStyle/>
          <a:p>
            <a:pPr algn="ctr" indent="0" marL="0">
              <a:buNone/>
            </a:pPr>
            <a:r>
              <a:rPr lang="en-US" sz="1100" b="1" spc="200" kern="0" dirty="0">
                <a:solidFill>
                  <a:srgbClr val="0F172A"/>
                </a:solidFill>
                <a:latin typeface="Calibri" pitchFamily="34" charset="0"/>
                <a:ea typeface="Calibri" pitchFamily="34" charset="-122"/>
                <a:cs typeface="Calibri" pitchFamily="34" charset="-120"/>
              </a:rPr>
              <a:t>MCP tools</a:t>
            </a:r>
            <a:endParaRPr lang="en-US" sz="1100" dirty="0"/>
          </a:p>
        </p:txBody>
      </p:sp>
      <p:sp>
        <p:nvSpPr>
          <p:cNvPr id="15" name="Text 13"/>
          <p:cNvSpPr/>
          <p:nvPr/>
        </p:nvSpPr>
        <p:spPr>
          <a:xfrm>
            <a:off x="4663440" y="2331720"/>
            <a:ext cx="1691640" cy="4572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knowledge, briefs, notes, workspaces, identity, enrichment protocol</a:t>
            </a:r>
            <a:endParaRPr lang="en-US" sz="800" dirty="0"/>
          </a:p>
        </p:txBody>
      </p:sp>
      <p:sp>
        <p:nvSpPr>
          <p:cNvPr id="16" name="Shape 14"/>
          <p:cNvSpPr/>
          <p:nvPr/>
        </p:nvSpPr>
        <p:spPr>
          <a:xfrm>
            <a:off x="6629400" y="1371600"/>
            <a:ext cx="1874520" cy="146304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17" name="Text 15"/>
          <p:cNvSpPr/>
          <p:nvPr/>
        </p:nvSpPr>
        <p:spPr>
          <a:xfrm>
            <a:off x="6629400" y="1463040"/>
            <a:ext cx="1874520" cy="548640"/>
          </a:xfrm>
          <a:prstGeom prst="rect">
            <a:avLst/>
          </a:prstGeom>
          <a:noFill/>
          <a:ln/>
        </p:spPr>
        <p:txBody>
          <a:bodyPr wrap="square" lIns="0" tIns="0" rIns="0" bIns="0" rtlCol="0" anchor="ctr"/>
          <a:lstStyle/>
          <a:p>
            <a:pPr algn="ctr" indent="0" marL="0">
              <a:buNone/>
            </a:pPr>
            <a:r>
              <a:rPr lang="en-US" sz="4800" b="1" dirty="0">
                <a:solidFill>
                  <a:srgbClr val="4F46E5"/>
                </a:solidFill>
                <a:latin typeface="Calibri" pitchFamily="34" charset="0"/>
                <a:ea typeface="Calibri" pitchFamily="34" charset="-122"/>
                <a:cs typeface="Calibri" pitchFamily="34" charset="-120"/>
              </a:rPr>
              <a:t>8</a:t>
            </a:r>
            <a:endParaRPr lang="en-US" sz="4800" dirty="0"/>
          </a:p>
        </p:txBody>
      </p:sp>
      <p:sp>
        <p:nvSpPr>
          <p:cNvPr id="18" name="Text 16"/>
          <p:cNvSpPr/>
          <p:nvPr/>
        </p:nvSpPr>
        <p:spPr>
          <a:xfrm>
            <a:off x="6629400" y="2029968"/>
            <a:ext cx="1874520" cy="274320"/>
          </a:xfrm>
          <a:prstGeom prst="rect">
            <a:avLst/>
          </a:prstGeom>
          <a:noFill/>
          <a:ln/>
        </p:spPr>
        <p:txBody>
          <a:bodyPr wrap="square" lIns="0" tIns="0" rIns="0" bIns="0" rtlCol="0" anchor="ctr"/>
          <a:lstStyle/>
          <a:p>
            <a:pPr algn="ctr" indent="0" marL="0">
              <a:buNone/>
            </a:pPr>
            <a:r>
              <a:rPr lang="en-US" sz="1100" b="1" spc="200" kern="0" dirty="0">
                <a:solidFill>
                  <a:srgbClr val="0F172A"/>
                </a:solidFill>
                <a:latin typeface="Calibri" pitchFamily="34" charset="0"/>
                <a:ea typeface="Calibri" pitchFamily="34" charset="-122"/>
                <a:cs typeface="Calibri" pitchFamily="34" charset="-120"/>
              </a:rPr>
              <a:t>dashboard widgets</a:t>
            </a:r>
            <a:endParaRPr lang="en-US" sz="1100" dirty="0"/>
          </a:p>
        </p:txBody>
      </p:sp>
      <p:sp>
        <p:nvSpPr>
          <p:cNvPr id="19" name="Text 17"/>
          <p:cNvSpPr/>
          <p:nvPr/>
        </p:nvSpPr>
        <p:spPr>
          <a:xfrm>
            <a:off x="6720840" y="2331720"/>
            <a:ext cx="1691640" cy="4572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today timeline, search, notes, settings, MCP console, status</a:t>
            </a:r>
            <a:endParaRPr lang="en-US" sz="800" dirty="0"/>
          </a:p>
        </p:txBody>
      </p:sp>
      <p:pic>
        <p:nvPicPr>
          <p:cNvPr id="20" name="Image 0" descr="preencoded.png">    </p:cNvPr>
          <p:cNvPicPr>
            <a:picLocks noChangeAspect="1"/>
          </p:cNvPicPr>
          <p:nvPr/>
        </p:nvPicPr>
        <p:blipFill>
          <a:blip r:embed="rId1"/>
          <a:stretch>
            <a:fillRect/>
          </a:stretch>
        </p:blipFill>
        <p:spPr>
          <a:xfrm>
            <a:off x="502920" y="3154680"/>
            <a:ext cx="274320" cy="274320"/>
          </a:xfrm>
          <a:prstGeom prst="rect">
            <a:avLst/>
          </a:prstGeom>
        </p:spPr>
      </p:pic>
      <p:sp>
        <p:nvSpPr>
          <p:cNvPr id="21" name="Text 18"/>
          <p:cNvSpPr/>
          <p:nvPr/>
        </p:nvSpPr>
        <p:spPr>
          <a:xfrm>
            <a:off x="868680" y="3127248"/>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Self-hosted by default</a:t>
            </a:r>
            <a:endParaRPr lang="en-US" sz="1200" dirty="0"/>
          </a:p>
        </p:txBody>
      </p:sp>
      <p:sp>
        <p:nvSpPr>
          <p:cNvPr id="22" name="Text 19"/>
          <p:cNvSpPr/>
          <p:nvPr/>
        </p:nvSpPr>
        <p:spPr>
          <a:xfrm>
            <a:off x="868680" y="3456432"/>
            <a:ext cx="237744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Docker, Hetzner, Tailscale. Your data never leaves your box.</a:t>
            </a:r>
            <a:endParaRPr lang="en-US" sz="950" dirty="0"/>
          </a:p>
        </p:txBody>
      </p:sp>
      <p:pic>
        <p:nvPicPr>
          <p:cNvPr id="23" name="Image 1" descr="preencoded.png">    </p:cNvPr>
          <p:cNvPicPr>
            <a:picLocks noChangeAspect="1"/>
          </p:cNvPicPr>
          <p:nvPr/>
        </p:nvPicPr>
        <p:blipFill>
          <a:blip r:embed="rId2"/>
          <a:stretch>
            <a:fillRect/>
          </a:stretch>
        </p:blipFill>
        <p:spPr>
          <a:xfrm>
            <a:off x="3337560" y="3154680"/>
            <a:ext cx="274320" cy="274320"/>
          </a:xfrm>
          <a:prstGeom prst="rect">
            <a:avLst/>
          </a:prstGeom>
        </p:spPr>
      </p:pic>
      <p:sp>
        <p:nvSpPr>
          <p:cNvPr id="24" name="Text 20"/>
          <p:cNvSpPr/>
          <p:nvPr/>
        </p:nvSpPr>
        <p:spPr>
          <a:xfrm>
            <a:off x="3703320" y="3127248"/>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MCP-native, BYO LLM</a:t>
            </a:r>
            <a:endParaRPr lang="en-US" sz="1200" dirty="0"/>
          </a:p>
        </p:txBody>
      </p:sp>
      <p:sp>
        <p:nvSpPr>
          <p:cNvPr id="25" name="Text 21"/>
          <p:cNvSpPr/>
          <p:nvPr/>
        </p:nvSpPr>
        <p:spPr>
          <a:xfrm>
            <a:off x="3703320" y="3456432"/>
            <a:ext cx="237744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Ollama, OpenRouter, or zero-LLM via the Enrichment Protocol.</a:t>
            </a:r>
            <a:endParaRPr lang="en-US" sz="950" dirty="0"/>
          </a:p>
        </p:txBody>
      </p:sp>
      <p:pic>
        <p:nvPicPr>
          <p:cNvPr id="26" name="Image 2" descr="preencoded.png">    </p:cNvPr>
          <p:cNvPicPr>
            <a:picLocks noChangeAspect="1"/>
          </p:cNvPicPr>
          <p:nvPr/>
        </p:nvPicPr>
        <p:blipFill>
          <a:blip r:embed="rId3"/>
          <a:stretch>
            <a:fillRect/>
          </a:stretch>
        </p:blipFill>
        <p:spPr>
          <a:xfrm>
            <a:off x="6172200" y="3154680"/>
            <a:ext cx="274320" cy="274320"/>
          </a:xfrm>
          <a:prstGeom prst="rect">
            <a:avLst/>
          </a:prstGeom>
        </p:spPr>
      </p:pic>
      <p:sp>
        <p:nvSpPr>
          <p:cNvPr id="27" name="Text 22"/>
          <p:cNvSpPr/>
          <p:nvPr/>
        </p:nvSpPr>
        <p:spPr>
          <a:xfrm>
            <a:off x="6537960" y="3127248"/>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Composable architecture</a:t>
            </a:r>
            <a:endParaRPr lang="en-US" sz="1200" dirty="0"/>
          </a:p>
        </p:txBody>
      </p:sp>
      <p:sp>
        <p:nvSpPr>
          <p:cNvPr id="28" name="Text 23"/>
          <p:cNvSpPr/>
          <p:nvPr/>
        </p:nvSpPr>
        <p:spPr>
          <a:xfrm>
            <a:off x="6537960" y="3456432"/>
            <a:ext cx="2377440" cy="6400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Engram (memory) + Persona (style) + Cortex + Synapse — adopt one or all.</a:t>
            </a:r>
            <a:endParaRPr lang="en-US" sz="950" dirty="0"/>
          </a:p>
        </p:txBody>
      </p:sp>
      <p:sp>
        <p:nvSpPr>
          <p:cNvPr id="29" name="Shape 24"/>
          <p:cNvSpPr/>
          <p:nvPr/>
        </p:nvSpPr>
        <p:spPr>
          <a:xfrm>
            <a:off x="457200" y="4297680"/>
            <a:ext cx="8229600" cy="502920"/>
          </a:xfrm>
          <a:prstGeom prst="rect">
            <a:avLst/>
          </a:prstGeom>
          <a:solidFill>
            <a:srgbClr val="FEF3C7"/>
          </a:solidFill>
          <a:ln/>
        </p:spPr>
      </p:sp>
      <p:sp>
        <p:nvSpPr>
          <p:cNvPr id="30" name="Text 25"/>
          <p:cNvSpPr/>
          <p:nvPr/>
        </p:nvSpPr>
        <p:spPr>
          <a:xfrm>
            <a:off x="640080" y="4297680"/>
            <a:ext cx="7955280" cy="5029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Honest gaps:  </a:t>
            </a:r>
            <a:pPr indent="0" marL="0">
              <a:buNone/>
            </a:pPr>
            <a:r>
              <a:rPr lang="en-US" sz="1100" dirty="0">
                <a:solidFill>
                  <a:srgbClr val="0F172A"/>
                </a:solidFill>
                <a:latin typeface="Calibri" pitchFamily="34" charset="0"/>
                <a:ea typeface="Calibri" pitchFamily="34" charset="-122"/>
                <a:cs typeface="Calibri" pitchFamily="34" charset="-120"/>
              </a:rPr>
              <a:t>no mobile · no SOC 2 / SSO · single-user (federation is ADR only) · no marketing site · no public benchmarks</a:t>
            </a:r>
            <a:endParaRPr lang="en-US" sz="1100" dirty="0"/>
          </a:p>
        </p:txBody>
      </p:sp>
      <p:sp>
        <p:nvSpPr>
          <p:cNvPr id="31" name="Text 26"/>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15</a:t>
            </a:r>
            <a:endParaRPr lang="en-US" sz="900" dirty="0"/>
          </a:p>
        </p:txBody>
      </p:sp>
      <p:sp>
        <p:nvSpPr>
          <p:cNvPr id="32" name="Text 27"/>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02 — Cortex today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45720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The market</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Four segments converging on one outcome</a:t>
            </a:r>
            <a:endParaRPr lang="en-US" sz="2800" dirty="0"/>
          </a:p>
        </p:txBody>
      </p:sp>
      <p:sp>
        <p:nvSpPr>
          <p:cNvPr id="4" name="Text 2"/>
          <p:cNvSpPr/>
          <p:nvPr/>
        </p:nvSpPr>
        <p:spPr>
          <a:xfrm>
            <a:off x="457200" y="1417320"/>
            <a:ext cx="8229600" cy="274320"/>
          </a:xfrm>
          <a:prstGeom prst="rect">
            <a:avLst/>
          </a:prstGeom>
          <a:noFill/>
          <a:ln/>
        </p:spPr>
        <p:txBody>
          <a:bodyPr wrap="square" lIns="0" tIns="0" rIns="0" bIns="0" rtlCol="0" anchor="ctr"/>
          <a:lstStyle/>
          <a:p>
            <a:pPr algn="ctr" indent="0" marL="0">
              <a:buNone/>
            </a:pPr>
            <a:r>
              <a:rPr lang="en-US" sz="1000" spc="200" kern="0" dirty="0">
                <a:solidFill>
                  <a:srgbClr val="64748B"/>
                </a:solidFill>
                <a:latin typeface="Calibri" pitchFamily="34" charset="0"/>
                <a:ea typeface="Calibri" pitchFamily="34" charset="-122"/>
                <a:cs typeface="Calibri" pitchFamily="34" charset="-120"/>
              </a:rPr>
              <a:t>PERSONAL  ←————————————————————————————————————→  ENTERPRISE</a:t>
            </a:r>
            <a:endParaRPr lang="en-US" sz="1000" dirty="0"/>
          </a:p>
        </p:txBody>
      </p:sp>
      <p:sp>
        <p:nvSpPr>
          <p:cNvPr id="5" name="Shape 3"/>
          <p:cNvSpPr/>
          <p:nvPr/>
        </p:nvSpPr>
        <p:spPr>
          <a:xfrm>
            <a:off x="457200" y="1737360"/>
            <a:ext cx="1874520" cy="278892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1234440" y="1874520"/>
            <a:ext cx="320040" cy="320040"/>
          </a:xfrm>
          <a:prstGeom prst="rect">
            <a:avLst/>
          </a:prstGeom>
        </p:spPr>
      </p:pic>
      <p:sp>
        <p:nvSpPr>
          <p:cNvPr id="7" name="Text 4"/>
          <p:cNvSpPr/>
          <p:nvPr/>
        </p:nvSpPr>
        <p:spPr>
          <a:xfrm>
            <a:off x="457200" y="2240280"/>
            <a:ext cx="18745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Consumer AI w/ memory</a:t>
            </a:r>
            <a:endParaRPr lang="en-US" sz="1200" dirty="0"/>
          </a:p>
        </p:txBody>
      </p:sp>
      <p:sp>
        <p:nvSpPr>
          <p:cNvPr id="8" name="Shape 5"/>
          <p:cNvSpPr/>
          <p:nvPr/>
        </p:nvSpPr>
        <p:spPr>
          <a:xfrm>
            <a:off x="822960" y="2606040"/>
            <a:ext cx="1143000" cy="18288"/>
          </a:xfrm>
          <a:prstGeom prst="rect">
            <a:avLst/>
          </a:prstGeom>
          <a:solidFill>
            <a:srgbClr val="4F46E5"/>
          </a:solidFill>
          <a:ln/>
        </p:spPr>
      </p:sp>
      <p:sp>
        <p:nvSpPr>
          <p:cNvPr id="9" name="Text 6"/>
          <p:cNvSpPr/>
          <p:nvPr/>
        </p:nvSpPr>
        <p:spPr>
          <a:xfrm>
            <a:off x="548640" y="274320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ChatGPT Memory</a:t>
            </a:r>
            <a:endParaRPr lang="en-US" sz="1000" dirty="0"/>
          </a:p>
        </p:txBody>
      </p:sp>
      <p:sp>
        <p:nvSpPr>
          <p:cNvPr id="10" name="Text 7"/>
          <p:cNvSpPr/>
          <p:nvPr/>
        </p:nvSpPr>
        <p:spPr>
          <a:xfrm>
            <a:off x="548640" y="301752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Claude Projects</a:t>
            </a:r>
            <a:endParaRPr lang="en-US" sz="1000" dirty="0"/>
          </a:p>
        </p:txBody>
      </p:sp>
      <p:sp>
        <p:nvSpPr>
          <p:cNvPr id="11" name="Text 8"/>
          <p:cNvSpPr/>
          <p:nvPr/>
        </p:nvSpPr>
        <p:spPr>
          <a:xfrm>
            <a:off x="548640" y="329184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Gemini Memory</a:t>
            </a:r>
            <a:endParaRPr lang="en-US" sz="1000" dirty="0"/>
          </a:p>
        </p:txBody>
      </p:sp>
      <p:sp>
        <p:nvSpPr>
          <p:cNvPr id="12" name="Text 9"/>
          <p:cNvSpPr/>
          <p:nvPr/>
        </p:nvSpPr>
        <p:spPr>
          <a:xfrm>
            <a:off x="548640" y="356616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MS Copilot</a:t>
            </a:r>
            <a:endParaRPr lang="en-US" sz="1000" dirty="0"/>
          </a:p>
        </p:txBody>
      </p:sp>
      <p:sp>
        <p:nvSpPr>
          <p:cNvPr id="13" name="Shape 10"/>
          <p:cNvSpPr/>
          <p:nvPr/>
        </p:nvSpPr>
        <p:spPr>
          <a:xfrm>
            <a:off x="640080" y="4160520"/>
            <a:ext cx="1508760" cy="292608"/>
          </a:xfrm>
          <a:prstGeom prst="rect">
            <a:avLst/>
          </a:prstGeom>
          <a:solidFill>
            <a:srgbClr val="0A1628"/>
          </a:solidFill>
          <a:ln/>
        </p:spPr>
      </p:sp>
      <p:sp>
        <p:nvSpPr>
          <p:cNvPr id="14" name="Text 11"/>
          <p:cNvSpPr/>
          <p:nvPr/>
        </p:nvSpPr>
        <p:spPr>
          <a:xfrm>
            <a:off x="640080" y="416052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extension point</a:t>
            </a:r>
            <a:endParaRPr lang="en-US" sz="900" dirty="0"/>
          </a:p>
        </p:txBody>
      </p:sp>
      <p:sp>
        <p:nvSpPr>
          <p:cNvPr id="15" name="Shape 12"/>
          <p:cNvSpPr/>
          <p:nvPr/>
        </p:nvSpPr>
        <p:spPr>
          <a:xfrm>
            <a:off x="2514600" y="1737360"/>
            <a:ext cx="1874520" cy="278892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pic>
        <p:nvPicPr>
          <p:cNvPr id="16" name="Image 1" descr="preencoded.png">    </p:cNvPr>
          <p:cNvPicPr>
            <a:picLocks noChangeAspect="1"/>
          </p:cNvPicPr>
          <p:nvPr/>
        </p:nvPicPr>
        <p:blipFill>
          <a:blip r:embed="rId2"/>
          <a:stretch>
            <a:fillRect/>
          </a:stretch>
        </p:blipFill>
        <p:spPr>
          <a:xfrm>
            <a:off x="3291840" y="1874520"/>
            <a:ext cx="320040" cy="320040"/>
          </a:xfrm>
          <a:prstGeom prst="rect">
            <a:avLst/>
          </a:prstGeom>
        </p:spPr>
      </p:pic>
      <p:sp>
        <p:nvSpPr>
          <p:cNvPr id="17" name="Text 13"/>
          <p:cNvSpPr/>
          <p:nvPr/>
        </p:nvSpPr>
        <p:spPr>
          <a:xfrm>
            <a:off x="2514600" y="2240280"/>
            <a:ext cx="18745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Personal PKM with AI</a:t>
            </a:r>
            <a:endParaRPr lang="en-US" sz="1200" dirty="0"/>
          </a:p>
        </p:txBody>
      </p:sp>
      <p:sp>
        <p:nvSpPr>
          <p:cNvPr id="18" name="Shape 14"/>
          <p:cNvSpPr/>
          <p:nvPr/>
        </p:nvSpPr>
        <p:spPr>
          <a:xfrm>
            <a:off x="2880360" y="2606040"/>
            <a:ext cx="1143000" cy="18288"/>
          </a:xfrm>
          <a:prstGeom prst="rect">
            <a:avLst/>
          </a:prstGeom>
          <a:solidFill>
            <a:srgbClr val="4F46E5"/>
          </a:solidFill>
          <a:ln/>
        </p:spPr>
      </p:sp>
      <p:sp>
        <p:nvSpPr>
          <p:cNvPr id="19" name="Text 15"/>
          <p:cNvSpPr/>
          <p:nvPr/>
        </p:nvSpPr>
        <p:spPr>
          <a:xfrm>
            <a:off x="2606040" y="274320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Mem.ai</a:t>
            </a:r>
            <a:endParaRPr lang="en-US" sz="1000" dirty="0"/>
          </a:p>
        </p:txBody>
      </p:sp>
      <p:sp>
        <p:nvSpPr>
          <p:cNvPr id="20" name="Text 16"/>
          <p:cNvSpPr/>
          <p:nvPr/>
        </p:nvSpPr>
        <p:spPr>
          <a:xfrm>
            <a:off x="2606040" y="301752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Reor</a:t>
            </a:r>
            <a:endParaRPr lang="en-US" sz="1000" dirty="0"/>
          </a:p>
        </p:txBody>
      </p:sp>
      <p:sp>
        <p:nvSpPr>
          <p:cNvPr id="21" name="Text 17"/>
          <p:cNvSpPr/>
          <p:nvPr/>
        </p:nvSpPr>
        <p:spPr>
          <a:xfrm>
            <a:off x="2606040" y="329184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Obsidian + plugins</a:t>
            </a:r>
            <a:endParaRPr lang="en-US" sz="1000" dirty="0"/>
          </a:p>
        </p:txBody>
      </p:sp>
      <p:sp>
        <p:nvSpPr>
          <p:cNvPr id="22" name="Text 18"/>
          <p:cNvSpPr/>
          <p:nvPr/>
        </p:nvSpPr>
        <p:spPr>
          <a:xfrm>
            <a:off x="2606040" y="356616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Notion (personal)</a:t>
            </a:r>
            <a:endParaRPr lang="en-US" sz="1000" dirty="0"/>
          </a:p>
        </p:txBody>
      </p:sp>
      <p:sp>
        <p:nvSpPr>
          <p:cNvPr id="23" name="Shape 19"/>
          <p:cNvSpPr/>
          <p:nvPr/>
        </p:nvSpPr>
        <p:spPr>
          <a:xfrm>
            <a:off x="2697480" y="4160520"/>
            <a:ext cx="1508760" cy="292608"/>
          </a:xfrm>
          <a:prstGeom prst="rect">
            <a:avLst/>
          </a:prstGeom>
          <a:solidFill>
            <a:srgbClr val="0A1628"/>
          </a:solidFill>
          <a:ln/>
        </p:spPr>
      </p:sp>
      <p:sp>
        <p:nvSpPr>
          <p:cNvPr id="24" name="Text 20"/>
          <p:cNvSpPr/>
          <p:nvPr/>
        </p:nvSpPr>
        <p:spPr>
          <a:xfrm>
            <a:off x="2697480" y="416052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direct competition</a:t>
            </a:r>
            <a:endParaRPr lang="en-US" sz="900" dirty="0"/>
          </a:p>
        </p:txBody>
      </p:sp>
      <p:sp>
        <p:nvSpPr>
          <p:cNvPr id="25" name="Shape 21"/>
          <p:cNvSpPr/>
          <p:nvPr/>
        </p:nvSpPr>
        <p:spPr>
          <a:xfrm>
            <a:off x="4572000" y="1737360"/>
            <a:ext cx="1874520" cy="278892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pic>
        <p:nvPicPr>
          <p:cNvPr id="26" name="Image 2" descr="preencoded.png">    </p:cNvPr>
          <p:cNvPicPr>
            <a:picLocks noChangeAspect="1"/>
          </p:cNvPicPr>
          <p:nvPr/>
        </p:nvPicPr>
        <p:blipFill>
          <a:blip r:embed="rId3"/>
          <a:stretch>
            <a:fillRect/>
          </a:stretch>
        </p:blipFill>
        <p:spPr>
          <a:xfrm>
            <a:off x="5349240" y="1874520"/>
            <a:ext cx="320040" cy="320040"/>
          </a:xfrm>
          <a:prstGeom prst="rect">
            <a:avLst/>
          </a:prstGeom>
        </p:spPr>
      </p:pic>
      <p:sp>
        <p:nvSpPr>
          <p:cNvPr id="27" name="Text 22"/>
          <p:cNvSpPr/>
          <p:nvPr/>
        </p:nvSpPr>
        <p:spPr>
          <a:xfrm>
            <a:off x="4572000" y="2240280"/>
            <a:ext cx="18745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AI memory infra</a:t>
            </a:r>
            <a:endParaRPr lang="en-US" sz="1200" dirty="0"/>
          </a:p>
        </p:txBody>
      </p:sp>
      <p:sp>
        <p:nvSpPr>
          <p:cNvPr id="28" name="Shape 23"/>
          <p:cNvSpPr/>
          <p:nvPr/>
        </p:nvSpPr>
        <p:spPr>
          <a:xfrm>
            <a:off x="4937760" y="2606040"/>
            <a:ext cx="1143000" cy="18288"/>
          </a:xfrm>
          <a:prstGeom prst="rect">
            <a:avLst/>
          </a:prstGeom>
          <a:solidFill>
            <a:srgbClr val="4F46E5"/>
          </a:solidFill>
          <a:ln/>
        </p:spPr>
      </p:sp>
      <p:sp>
        <p:nvSpPr>
          <p:cNvPr id="29" name="Text 24"/>
          <p:cNvSpPr/>
          <p:nvPr/>
        </p:nvSpPr>
        <p:spPr>
          <a:xfrm>
            <a:off x="4663440" y="274320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Mem0</a:t>
            </a:r>
            <a:endParaRPr lang="en-US" sz="1000" dirty="0"/>
          </a:p>
        </p:txBody>
      </p:sp>
      <p:sp>
        <p:nvSpPr>
          <p:cNvPr id="30" name="Text 25"/>
          <p:cNvSpPr/>
          <p:nvPr/>
        </p:nvSpPr>
        <p:spPr>
          <a:xfrm>
            <a:off x="4663440" y="301752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Zep</a:t>
            </a:r>
            <a:endParaRPr lang="en-US" sz="1000" dirty="0"/>
          </a:p>
        </p:txBody>
      </p:sp>
      <p:sp>
        <p:nvSpPr>
          <p:cNvPr id="31" name="Text 26"/>
          <p:cNvSpPr/>
          <p:nvPr/>
        </p:nvSpPr>
        <p:spPr>
          <a:xfrm>
            <a:off x="4663440" y="329184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Letta (MemGPT)</a:t>
            </a:r>
            <a:endParaRPr lang="en-US" sz="1000" dirty="0"/>
          </a:p>
        </p:txBody>
      </p:sp>
      <p:sp>
        <p:nvSpPr>
          <p:cNvPr id="32" name="Text 27"/>
          <p:cNvSpPr/>
          <p:nvPr/>
        </p:nvSpPr>
        <p:spPr>
          <a:xfrm>
            <a:off x="4663440" y="356616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Cognee</a:t>
            </a:r>
            <a:endParaRPr lang="en-US" sz="1000" dirty="0"/>
          </a:p>
        </p:txBody>
      </p:sp>
      <p:sp>
        <p:nvSpPr>
          <p:cNvPr id="33" name="Shape 28"/>
          <p:cNvSpPr/>
          <p:nvPr/>
        </p:nvSpPr>
        <p:spPr>
          <a:xfrm>
            <a:off x="4754880" y="4160520"/>
            <a:ext cx="1508760" cy="292608"/>
          </a:xfrm>
          <a:prstGeom prst="rect">
            <a:avLst/>
          </a:prstGeom>
          <a:solidFill>
            <a:srgbClr val="0A1628"/>
          </a:solidFill>
          <a:ln/>
        </p:spPr>
      </p:sp>
      <p:sp>
        <p:nvSpPr>
          <p:cNvPr id="34" name="Text 29"/>
          <p:cNvSpPr/>
          <p:nvPr/>
        </p:nvSpPr>
        <p:spPr>
          <a:xfrm>
            <a:off x="4754880" y="416052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competes via Engram</a:t>
            </a:r>
            <a:endParaRPr lang="en-US" sz="900" dirty="0"/>
          </a:p>
        </p:txBody>
      </p:sp>
      <p:sp>
        <p:nvSpPr>
          <p:cNvPr id="35" name="Shape 30"/>
          <p:cNvSpPr/>
          <p:nvPr/>
        </p:nvSpPr>
        <p:spPr>
          <a:xfrm>
            <a:off x="6629400" y="1737360"/>
            <a:ext cx="1874520" cy="278892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pic>
        <p:nvPicPr>
          <p:cNvPr id="36" name="Image 3" descr="preencoded.png">    </p:cNvPr>
          <p:cNvPicPr>
            <a:picLocks noChangeAspect="1"/>
          </p:cNvPicPr>
          <p:nvPr/>
        </p:nvPicPr>
        <p:blipFill>
          <a:blip r:embed="rId4"/>
          <a:stretch>
            <a:fillRect/>
          </a:stretch>
        </p:blipFill>
        <p:spPr>
          <a:xfrm>
            <a:off x="7406640" y="1874520"/>
            <a:ext cx="320040" cy="320040"/>
          </a:xfrm>
          <a:prstGeom prst="rect">
            <a:avLst/>
          </a:prstGeom>
        </p:spPr>
      </p:pic>
      <p:sp>
        <p:nvSpPr>
          <p:cNvPr id="37" name="Text 31"/>
          <p:cNvSpPr/>
          <p:nvPr/>
        </p:nvSpPr>
        <p:spPr>
          <a:xfrm>
            <a:off x="6629400" y="2240280"/>
            <a:ext cx="18745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Enterprise search</a:t>
            </a:r>
            <a:endParaRPr lang="en-US" sz="1200" dirty="0"/>
          </a:p>
        </p:txBody>
      </p:sp>
      <p:sp>
        <p:nvSpPr>
          <p:cNvPr id="38" name="Shape 32"/>
          <p:cNvSpPr/>
          <p:nvPr/>
        </p:nvSpPr>
        <p:spPr>
          <a:xfrm>
            <a:off x="6995160" y="2606040"/>
            <a:ext cx="1143000" cy="18288"/>
          </a:xfrm>
          <a:prstGeom prst="rect">
            <a:avLst/>
          </a:prstGeom>
          <a:solidFill>
            <a:srgbClr val="4F46E5"/>
          </a:solidFill>
          <a:ln/>
        </p:spPr>
      </p:sp>
      <p:sp>
        <p:nvSpPr>
          <p:cNvPr id="39" name="Text 33"/>
          <p:cNvSpPr/>
          <p:nvPr/>
        </p:nvSpPr>
        <p:spPr>
          <a:xfrm>
            <a:off x="6720840" y="274320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Glean ($7B)</a:t>
            </a:r>
            <a:endParaRPr lang="en-US" sz="1000" dirty="0"/>
          </a:p>
        </p:txBody>
      </p:sp>
      <p:sp>
        <p:nvSpPr>
          <p:cNvPr id="40" name="Text 34"/>
          <p:cNvSpPr/>
          <p:nvPr/>
        </p:nvSpPr>
        <p:spPr>
          <a:xfrm>
            <a:off x="6720840" y="301752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Atlassian Rovo</a:t>
            </a:r>
            <a:endParaRPr lang="en-US" sz="1000" dirty="0"/>
          </a:p>
        </p:txBody>
      </p:sp>
      <p:sp>
        <p:nvSpPr>
          <p:cNvPr id="41" name="Text 35"/>
          <p:cNvSpPr/>
          <p:nvPr/>
        </p:nvSpPr>
        <p:spPr>
          <a:xfrm>
            <a:off x="6720840" y="329184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M365 Copilot</a:t>
            </a:r>
            <a:endParaRPr lang="en-US" sz="1000" dirty="0"/>
          </a:p>
        </p:txBody>
      </p:sp>
      <p:sp>
        <p:nvSpPr>
          <p:cNvPr id="42" name="Text 36"/>
          <p:cNvSpPr/>
          <p:nvPr/>
        </p:nvSpPr>
        <p:spPr>
          <a:xfrm>
            <a:off x="6720840" y="3566160"/>
            <a:ext cx="1691640" cy="25603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Notion AI Ent.</a:t>
            </a:r>
            <a:endParaRPr lang="en-US" sz="1000" dirty="0"/>
          </a:p>
        </p:txBody>
      </p:sp>
      <p:sp>
        <p:nvSpPr>
          <p:cNvPr id="43" name="Shape 37"/>
          <p:cNvSpPr/>
          <p:nvPr/>
        </p:nvSpPr>
        <p:spPr>
          <a:xfrm>
            <a:off x="6812280" y="4160520"/>
            <a:ext cx="1508760" cy="292608"/>
          </a:xfrm>
          <a:prstGeom prst="rect">
            <a:avLst/>
          </a:prstGeom>
          <a:solidFill>
            <a:srgbClr val="0A1628"/>
          </a:solidFill>
          <a:ln/>
        </p:spPr>
      </p:sp>
      <p:sp>
        <p:nvSpPr>
          <p:cNvPr id="44" name="Text 38"/>
          <p:cNvSpPr/>
          <p:nvPr/>
        </p:nvSpPr>
        <p:spPr>
          <a:xfrm>
            <a:off x="6812280" y="416052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asymmetric attack</a:t>
            </a:r>
            <a:endParaRPr lang="en-US" sz="900" dirty="0"/>
          </a:p>
        </p:txBody>
      </p:sp>
      <p:sp>
        <p:nvSpPr>
          <p:cNvPr id="45" name="Text 39"/>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200" i="1" dirty="0">
                <a:solidFill>
                  <a:srgbClr val="4F46E5"/>
                </a:solidFill>
                <a:latin typeface="Calibri" pitchFamily="34" charset="0"/>
                <a:ea typeface="Calibri" pitchFamily="34" charset="-122"/>
                <a:cs typeface="Calibri" pitchFamily="34" charset="-120"/>
              </a:rPr>
              <a:t>Cortex sits across all four — and is the only player that is self-hosted, MCP-native, and BYO-LLM.</a:t>
            </a:r>
            <a:endParaRPr lang="en-US" sz="1200" dirty="0"/>
          </a:p>
        </p:txBody>
      </p:sp>
      <p:sp>
        <p:nvSpPr>
          <p:cNvPr id="46" name="Text 4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15</a:t>
            </a:r>
            <a:endParaRPr lang="en-US" sz="900" dirty="0"/>
          </a:p>
        </p:txBody>
      </p:sp>
      <p:sp>
        <p:nvSpPr>
          <p:cNvPr id="47" name="Text 41"/>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03 — Market map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600" kern="0" dirty="0">
                <a:solidFill>
                  <a:srgbClr val="4F46E5"/>
                </a:solidFill>
                <a:latin typeface="Calibri" pitchFamily="34" charset="0"/>
                <a:ea typeface="Calibri" pitchFamily="34" charset="-122"/>
                <a:cs typeface="Calibri" pitchFamily="34" charset="-120"/>
              </a:rPr>
              <a:t>Segment 1</a:t>
            </a:r>
            <a:endParaRPr lang="en-US" sz="10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Enterprise knowledge search</a:t>
            </a:r>
            <a:endParaRPr lang="en-US" sz="2600" dirty="0"/>
          </a:p>
        </p:txBody>
      </p:sp>
      <p:sp>
        <p:nvSpPr>
          <p:cNvPr id="4" name="Text 2"/>
          <p:cNvSpPr/>
          <p:nvPr/>
        </p:nvSpPr>
        <p:spPr>
          <a:xfrm>
            <a:off x="457200" y="1097280"/>
            <a:ext cx="82296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$3-5B TAM · 30%+ YoY · all leaders are SaaS-only</a:t>
            </a:r>
            <a:endParaRPr lang="en-US" sz="1200" dirty="0"/>
          </a:p>
        </p:txBody>
      </p:sp>
      <p:sp>
        <p:nvSpPr>
          <p:cNvPr id="5" name="Shape 3"/>
          <p:cNvSpPr/>
          <p:nvPr/>
        </p:nvSpPr>
        <p:spPr>
          <a:xfrm>
            <a:off x="457200" y="1554480"/>
            <a:ext cx="2011680" cy="320040"/>
          </a:xfrm>
          <a:prstGeom prst="rect">
            <a:avLst/>
          </a:prstGeom>
          <a:solidFill>
            <a:srgbClr val="0A1628"/>
          </a:solidFill>
          <a:ln/>
        </p:spPr>
      </p:sp>
      <p:sp>
        <p:nvSpPr>
          <p:cNvPr id="6" name="Text 4"/>
          <p:cNvSpPr/>
          <p:nvPr/>
        </p:nvSpPr>
        <p:spPr>
          <a:xfrm>
            <a:off x="457200" y="1554480"/>
            <a:ext cx="2011680" cy="320040"/>
          </a:xfrm>
          <a:prstGeom prst="rect">
            <a:avLst/>
          </a:prstGeom>
          <a:noFill/>
          <a:ln/>
        </p:spPr>
        <p:txBody>
          <a:bodyPr wrap="square" lIns="0" tIns="0" rIns="0" bIns="0" rtlCol="0" anchor="ctr"/>
          <a:lstStyle/>
          <a:p>
            <a:pPr algn="ctr" indent="0" marL="0">
              <a:buNone/>
            </a:pPr>
            <a:endParaRPr lang="en-US" sz="1000" dirty="0"/>
          </a:p>
        </p:txBody>
      </p:sp>
      <p:sp>
        <p:nvSpPr>
          <p:cNvPr id="7" name="Shape 5"/>
          <p:cNvSpPr/>
          <p:nvPr/>
        </p:nvSpPr>
        <p:spPr>
          <a:xfrm>
            <a:off x="2468880" y="1554480"/>
            <a:ext cx="1188720" cy="320040"/>
          </a:xfrm>
          <a:prstGeom prst="rect">
            <a:avLst/>
          </a:prstGeom>
          <a:solidFill>
            <a:srgbClr val="0A1628"/>
          </a:solidFill>
          <a:ln/>
        </p:spPr>
      </p:sp>
      <p:sp>
        <p:nvSpPr>
          <p:cNvPr id="8" name="Text 6"/>
          <p:cNvSpPr/>
          <p:nvPr/>
        </p:nvSpPr>
        <p:spPr>
          <a:xfrm>
            <a:off x="2468880" y="155448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Glean</a:t>
            </a:r>
            <a:endParaRPr lang="en-US" sz="1000" dirty="0"/>
          </a:p>
        </p:txBody>
      </p:sp>
      <p:sp>
        <p:nvSpPr>
          <p:cNvPr id="9" name="Shape 7"/>
          <p:cNvSpPr/>
          <p:nvPr/>
        </p:nvSpPr>
        <p:spPr>
          <a:xfrm>
            <a:off x="3657600" y="1554480"/>
            <a:ext cx="1188720" cy="320040"/>
          </a:xfrm>
          <a:prstGeom prst="rect">
            <a:avLst/>
          </a:prstGeom>
          <a:solidFill>
            <a:srgbClr val="0A1628"/>
          </a:solidFill>
          <a:ln/>
        </p:spPr>
      </p:sp>
      <p:sp>
        <p:nvSpPr>
          <p:cNvPr id="10" name="Text 8"/>
          <p:cNvSpPr/>
          <p:nvPr/>
        </p:nvSpPr>
        <p:spPr>
          <a:xfrm>
            <a:off x="3657600" y="155448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Rovo</a:t>
            </a:r>
            <a:endParaRPr lang="en-US" sz="1000" dirty="0"/>
          </a:p>
        </p:txBody>
      </p:sp>
      <p:sp>
        <p:nvSpPr>
          <p:cNvPr id="11" name="Shape 9"/>
          <p:cNvSpPr/>
          <p:nvPr/>
        </p:nvSpPr>
        <p:spPr>
          <a:xfrm>
            <a:off x="4846320" y="1554480"/>
            <a:ext cx="1188720" cy="320040"/>
          </a:xfrm>
          <a:prstGeom prst="rect">
            <a:avLst/>
          </a:prstGeom>
          <a:solidFill>
            <a:srgbClr val="0A1628"/>
          </a:solidFill>
          <a:ln/>
        </p:spPr>
      </p:sp>
      <p:sp>
        <p:nvSpPr>
          <p:cNvPr id="12" name="Text 10"/>
          <p:cNvSpPr/>
          <p:nvPr/>
        </p:nvSpPr>
        <p:spPr>
          <a:xfrm>
            <a:off x="4846320" y="155448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MS Copilot</a:t>
            </a:r>
            <a:endParaRPr lang="en-US" sz="1000" dirty="0"/>
          </a:p>
        </p:txBody>
      </p:sp>
      <p:sp>
        <p:nvSpPr>
          <p:cNvPr id="13" name="Shape 11"/>
          <p:cNvSpPr/>
          <p:nvPr/>
        </p:nvSpPr>
        <p:spPr>
          <a:xfrm>
            <a:off x="6035040" y="1554480"/>
            <a:ext cx="1188720" cy="320040"/>
          </a:xfrm>
          <a:prstGeom prst="rect">
            <a:avLst/>
          </a:prstGeom>
          <a:solidFill>
            <a:srgbClr val="0A1628"/>
          </a:solidFill>
          <a:ln/>
        </p:spPr>
      </p:sp>
      <p:sp>
        <p:nvSpPr>
          <p:cNvPr id="14" name="Text 12"/>
          <p:cNvSpPr/>
          <p:nvPr/>
        </p:nvSpPr>
        <p:spPr>
          <a:xfrm>
            <a:off x="6035040" y="155448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Notion AI</a:t>
            </a:r>
            <a:endParaRPr lang="en-US" sz="1000" dirty="0"/>
          </a:p>
        </p:txBody>
      </p:sp>
      <p:sp>
        <p:nvSpPr>
          <p:cNvPr id="15" name="Shape 13"/>
          <p:cNvSpPr/>
          <p:nvPr/>
        </p:nvSpPr>
        <p:spPr>
          <a:xfrm>
            <a:off x="7223760" y="1554480"/>
            <a:ext cx="1005840" cy="320040"/>
          </a:xfrm>
          <a:prstGeom prst="rect">
            <a:avLst/>
          </a:prstGeom>
          <a:solidFill>
            <a:srgbClr val="0A1628"/>
          </a:solidFill>
          <a:ln/>
        </p:spPr>
      </p:sp>
      <p:sp>
        <p:nvSpPr>
          <p:cNvPr id="16" name="Text 14"/>
          <p:cNvSpPr/>
          <p:nvPr/>
        </p:nvSpPr>
        <p:spPr>
          <a:xfrm>
            <a:off x="7223760" y="155448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Cortex</a:t>
            </a:r>
            <a:endParaRPr lang="en-US" sz="1000" dirty="0"/>
          </a:p>
        </p:txBody>
      </p:sp>
      <p:sp>
        <p:nvSpPr>
          <p:cNvPr id="17" name="Shape 15"/>
          <p:cNvSpPr/>
          <p:nvPr/>
        </p:nvSpPr>
        <p:spPr>
          <a:xfrm>
            <a:off x="457200" y="1874520"/>
            <a:ext cx="7772400" cy="320040"/>
          </a:xfrm>
          <a:prstGeom prst="rect">
            <a:avLst/>
          </a:prstGeom>
          <a:solidFill>
            <a:srgbClr val="FFFFFF"/>
          </a:solidFill>
          <a:ln/>
        </p:spPr>
      </p:sp>
      <p:sp>
        <p:nvSpPr>
          <p:cNvPr id="18" name="Text 16"/>
          <p:cNvSpPr/>
          <p:nvPr/>
        </p:nvSpPr>
        <p:spPr>
          <a:xfrm>
            <a:off x="548640" y="187452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Self-hosted</a:t>
            </a:r>
            <a:endParaRPr lang="en-US" sz="1000" dirty="0"/>
          </a:p>
        </p:txBody>
      </p:sp>
      <p:sp>
        <p:nvSpPr>
          <p:cNvPr id="19" name="Shape 17"/>
          <p:cNvSpPr/>
          <p:nvPr/>
        </p:nvSpPr>
        <p:spPr>
          <a:xfrm>
            <a:off x="2674620" y="1911096"/>
            <a:ext cx="777240" cy="246888"/>
          </a:xfrm>
          <a:prstGeom prst="roundRect">
            <a:avLst>
              <a:gd name="adj" fmla="val 22222"/>
            </a:avLst>
          </a:prstGeom>
          <a:solidFill>
            <a:srgbClr val="64748B"/>
          </a:solidFill>
          <a:ln/>
        </p:spPr>
      </p:sp>
      <p:sp>
        <p:nvSpPr>
          <p:cNvPr id="20" name="Text 18"/>
          <p:cNvSpPr/>
          <p:nvPr/>
        </p:nvSpPr>
        <p:spPr>
          <a:xfrm>
            <a:off x="2674620" y="19110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21" name="Shape 19"/>
          <p:cNvSpPr/>
          <p:nvPr/>
        </p:nvSpPr>
        <p:spPr>
          <a:xfrm>
            <a:off x="3863340" y="1911096"/>
            <a:ext cx="777240" cy="246888"/>
          </a:xfrm>
          <a:prstGeom prst="roundRect">
            <a:avLst>
              <a:gd name="adj" fmla="val 22222"/>
            </a:avLst>
          </a:prstGeom>
          <a:solidFill>
            <a:srgbClr val="64748B"/>
          </a:solidFill>
          <a:ln/>
        </p:spPr>
      </p:sp>
      <p:sp>
        <p:nvSpPr>
          <p:cNvPr id="22" name="Text 20"/>
          <p:cNvSpPr/>
          <p:nvPr/>
        </p:nvSpPr>
        <p:spPr>
          <a:xfrm>
            <a:off x="3863340" y="19110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23" name="Shape 21"/>
          <p:cNvSpPr/>
          <p:nvPr/>
        </p:nvSpPr>
        <p:spPr>
          <a:xfrm>
            <a:off x="5052060" y="1911096"/>
            <a:ext cx="777240" cy="246888"/>
          </a:xfrm>
          <a:prstGeom prst="roundRect">
            <a:avLst>
              <a:gd name="adj" fmla="val 22222"/>
            </a:avLst>
          </a:prstGeom>
          <a:solidFill>
            <a:srgbClr val="64748B"/>
          </a:solidFill>
          <a:ln/>
        </p:spPr>
      </p:sp>
      <p:sp>
        <p:nvSpPr>
          <p:cNvPr id="24" name="Text 22"/>
          <p:cNvSpPr/>
          <p:nvPr/>
        </p:nvSpPr>
        <p:spPr>
          <a:xfrm>
            <a:off x="5052060" y="19110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25" name="Shape 23"/>
          <p:cNvSpPr/>
          <p:nvPr/>
        </p:nvSpPr>
        <p:spPr>
          <a:xfrm>
            <a:off x="6240780" y="1911096"/>
            <a:ext cx="777240" cy="246888"/>
          </a:xfrm>
          <a:prstGeom prst="roundRect">
            <a:avLst>
              <a:gd name="adj" fmla="val 22222"/>
            </a:avLst>
          </a:prstGeom>
          <a:solidFill>
            <a:srgbClr val="64748B"/>
          </a:solidFill>
          <a:ln/>
        </p:spPr>
      </p:sp>
      <p:sp>
        <p:nvSpPr>
          <p:cNvPr id="26" name="Text 24"/>
          <p:cNvSpPr/>
          <p:nvPr/>
        </p:nvSpPr>
        <p:spPr>
          <a:xfrm>
            <a:off x="6240780" y="19110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27" name="Shape 25"/>
          <p:cNvSpPr/>
          <p:nvPr/>
        </p:nvSpPr>
        <p:spPr>
          <a:xfrm>
            <a:off x="7338060" y="1911096"/>
            <a:ext cx="777240" cy="246888"/>
          </a:xfrm>
          <a:prstGeom prst="roundRect">
            <a:avLst>
              <a:gd name="adj" fmla="val 22222"/>
            </a:avLst>
          </a:prstGeom>
          <a:solidFill>
            <a:srgbClr val="10B981"/>
          </a:solidFill>
          <a:ln/>
        </p:spPr>
      </p:sp>
      <p:sp>
        <p:nvSpPr>
          <p:cNvPr id="28" name="Text 26"/>
          <p:cNvSpPr/>
          <p:nvPr/>
        </p:nvSpPr>
        <p:spPr>
          <a:xfrm>
            <a:off x="7338060" y="19110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29" name="Shape 27"/>
          <p:cNvSpPr/>
          <p:nvPr/>
        </p:nvSpPr>
        <p:spPr>
          <a:xfrm>
            <a:off x="457200" y="2194560"/>
            <a:ext cx="7772400" cy="320040"/>
          </a:xfrm>
          <a:prstGeom prst="rect">
            <a:avLst/>
          </a:prstGeom>
          <a:solidFill>
            <a:srgbClr val="F8FAFC"/>
          </a:solidFill>
          <a:ln/>
        </p:spPr>
      </p:sp>
      <p:sp>
        <p:nvSpPr>
          <p:cNvPr id="30" name="Text 28"/>
          <p:cNvSpPr/>
          <p:nvPr/>
        </p:nvSpPr>
        <p:spPr>
          <a:xfrm>
            <a:off x="548640" y="219456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MCP-native</a:t>
            </a:r>
            <a:endParaRPr lang="en-US" sz="1000" dirty="0"/>
          </a:p>
        </p:txBody>
      </p:sp>
      <p:sp>
        <p:nvSpPr>
          <p:cNvPr id="31" name="Shape 29"/>
          <p:cNvSpPr/>
          <p:nvPr/>
        </p:nvSpPr>
        <p:spPr>
          <a:xfrm>
            <a:off x="2674620" y="2231136"/>
            <a:ext cx="777240" cy="246888"/>
          </a:xfrm>
          <a:prstGeom prst="roundRect">
            <a:avLst>
              <a:gd name="adj" fmla="val 22222"/>
            </a:avLst>
          </a:prstGeom>
          <a:solidFill>
            <a:srgbClr val="F59E0B"/>
          </a:solidFill>
          <a:ln/>
        </p:spPr>
      </p:sp>
      <p:sp>
        <p:nvSpPr>
          <p:cNvPr id="32" name="Text 30"/>
          <p:cNvSpPr/>
          <p:nvPr/>
        </p:nvSpPr>
        <p:spPr>
          <a:xfrm>
            <a:off x="2674620" y="22311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33" name="Shape 31"/>
          <p:cNvSpPr/>
          <p:nvPr/>
        </p:nvSpPr>
        <p:spPr>
          <a:xfrm>
            <a:off x="3863340" y="2231136"/>
            <a:ext cx="777240" cy="246888"/>
          </a:xfrm>
          <a:prstGeom prst="roundRect">
            <a:avLst>
              <a:gd name="adj" fmla="val 22222"/>
            </a:avLst>
          </a:prstGeom>
          <a:solidFill>
            <a:srgbClr val="F59E0B"/>
          </a:solidFill>
          <a:ln/>
        </p:spPr>
      </p:sp>
      <p:sp>
        <p:nvSpPr>
          <p:cNvPr id="34" name="Text 32"/>
          <p:cNvSpPr/>
          <p:nvPr/>
        </p:nvSpPr>
        <p:spPr>
          <a:xfrm>
            <a:off x="3863340" y="22311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35" name="Shape 33"/>
          <p:cNvSpPr/>
          <p:nvPr/>
        </p:nvSpPr>
        <p:spPr>
          <a:xfrm>
            <a:off x="5052060" y="2231136"/>
            <a:ext cx="777240" cy="246888"/>
          </a:xfrm>
          <a:prstGeom prst="roundRect">
            <a:avLst>
              <a:gd name="adj" fmla="val 22222"/>
            </a:avLst>
          </a:prstGeom>
          <a:solidFill>
            <a:srgbClr val="F59E0B"/>
          </a:solidFill>
          <a:ln/>
        </p:spPr>
      </p:sp>
      <p:sp>
        <p:nvSpPr>
          <p:cNvPr id="36" name="Text 34"/>
          <p:cNvSpPr/>
          <p:nvPr/>
        </p:nvSpPr>
        <p:spPr>
          <a:xfrm>
            <a:off x="5052060" y="22311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37" name="Shape 35"/>
          <p:cNvSpPr/>
          <p:nvPr/>
        </p:nvSpPr>
        <p:spPr>
          <a:xfrm>
            <a:off x="6240780" y="2231136"/>
            <a:ext cx="777240" cy="246888"/>
          </a:xfrm>
          <a:prstGeom prst="roundRect">
            <a:avLst>
              <a:gd name="adj" fmla="val 22222"/>
            </a:avLst>
          </a:prstGeom>
          <a:solidFill>
            <a:srgbClr val="EF4444"/>
          </a:solidFill>
          <a:ln/>
        </p:spPr>
      </p:sp>
      <p:sp>
        <p:nvSpPr>
          <p:cNvPr id="38" name="Text 36"/>
          <p:cNvSpPr/>
          <p:nvPr/>
        </p:nvSpPr>
        <p:spPr>
          <a:xfrm>
            <a:off x="6240780" y="22311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Weak</a:t>
            </a:r>
            <a:endParaRPr lang="en-US" sz="800" dirty="0"/>
          </a:p>
        </p:txBody>
      </p:sp>
      <p:sp>
        <p:nvSpPr>
          <p:cNvPr id="39" name="Shape 37"/>
          <p:cNvSpPr/>
          <p:nvPr/>
        </p:nvSpPr>
        <p:spPr>
          <a:xfrm>
            <a:off x="7338060" y="2231136"/>
            <a:ext cx="777240" cy="246888"/>
          </a:xfrm>
          <a:prstGeom prst="roundRect">
            <a:avLst>
              <a:gd name="adj" fmla="val 22222"/>
            </a:avLst>
          </a:prstGeom>
          <a:solidFill>
            <a:srgbClr val="10B981"/>
          </a:solidFill>
          <a:ln/>
        </p:spPr>
      </p:sp>
      <p:sp>
        <p:nvSpPr>
          <p:cNvPr id="40" name="Text 38"/>
          <p:cNvSpPr/>
          <p:nvPr/>
        </p:nvSpPr>
        <p:spPr>
          <a:xfrm>
            <a:off x="7338060" y="22311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41" name="Shape 39"/>
          <p:cNvSpPr/>
          <p:nvPr/>
        </p:nvSpPr>
        <p:spPr>
          <a:xfrm>
            <a:off x="457200" y="2514600"/>
            <a:ext cx="7772400" cy="320040"/>
          </a:xfrm>
          <a:prstGeom prst="rect">
            <a:avLst/>
          </a:prstGeom>
          <a:solidFill>
            <a:srgbClr val="FFFFFF"/>
          </a:solidFill>
          <a:ln/>
        </p:spPr>
      </p:sp>
      <p:sp>
        <p:nvSpPr>
          <p:cNvPr id="42" name="Text 40"/>
          <p:cNvSpPr/>
          <p:nvPr/>
        </p:nvSpPr>
        <p:spPr>
          <a:xfrm>
            <a:off x="548640" y="251460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BYO LLM</a:t>
            </a:r>
            <a:endParaRPr lang="en-US" sz="1000" dirty="0"/>
          </a:p>
        </p:txBody>
      </p:sp>
      <p:sp>
        <p:nvSpPr>
          <p:cNvPr id="43" name="Shape 41"/>
          <p:cNvSpPr/>
          <p:nvPr/>
        </p:nvSpPr>
        <p:spPr>
          <a:xfrm>
            <a:off x="2674620" y="2551176"/>
            <a:ext cx="777240" cy="246888"/>
          </a:xfrm>
          <a:prstGeom prst="roundRect">
            <a:avLst>
              <a:gd name="adj" fmla="val 22222"/>
            </a:avLst>
          </a:prstGeom>
          <a:solidFill>
            <a:srgbClr val="64748B"/>
          </a:solidFill>
          <a:ln/>
        </p:spPr>
      </p:sp>
      <p:sp>
        <p:nvSpPr>
          <p:cNvPr id="44" name="Text 42"/>
          <p:cNvSpPr/>
          <p:nvPr/>
        </p:nvSpPr>
        <p:spPr>
          <a:xfrm>
            <a:off x="2674620" y="255117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45" name="Shape 43"/>
          <p:cNvSpPr/>
          <p:nvPr/>
        </p:nvSpPr>
        <p:spPr>
          <a:xfrm>
            <a:off x="3863340" y="2551176"/>
            <a:ext cx="777240" cy="246888"/>
          </a:xfrm>
          <a:prstGeom prst="roundRect">
            <a:avLst>
              <a:gd name="adj" fmla="val 22222"/>
            </a:avLst>
          </a:prstGeom>
          <a:solidFill>
            <a:srgbClr val="64748B"/>
          </a:solidFill>
          <a:ln/>
        </p:spPr>
      </p:sp>
      <p:sp>
        <p:nvSpPr>
          <p:cNvPr id="46" name="Text 44"/>
          <p:cNvSpPr/>
          <p:nvPr/>
        </p:nvSpPr>
        <p:spPr>
          <a:xfrm>
            <a:off x="3863340" y="255117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47" name="Shape 45"/>
          <p:cNvSpPr/>
          <p:nvPr/>
        </p:nvSpPr>
        <p:spPr>
          <a:xfrm>
            <a:off x="5052060" y="2551176"/>
            <a:ext cx="777240" cy="246888"/>
          </a:xfrm>
          <a:prstGeom prst="roundRect">
            <a:avLst>
              <a:gd name="adj" fmla="val 22222"/>
            </a:avLst>
          </a:prstGeom>
          <a:solidFill>
            <a:srgbClr val="64748B"/>
          </a:solidFill>
          <a:ln/>
        </p:spPr>
      </p:sp>
      <p:sp>
        <p:nvSpPr>
          <p:cNvPr id="48" name="Text 46"/>
          <p:cNvSpPr/>
          <p:nvPr/>
        </p:nvSpPr>
        <p:spPr>
          <a:xfrm>
            <a:off x="5052060" y="255117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49" name="Shape 47"/>
          <p:cNvSpPr/>
          <p:nvPr/>
        </p:nvSpPr>
        <p:spPr>
          <a:xfrm>
            <a:off x="6240780" y="2551176"/>
            <a:ext cx="777240" cy="246888"/>
          </a:xfrm>
          <a:prstGeom prst="roundRect">
            <a:avLst>
              <a:gd name="adj" fmla="val 22222"/>
            </a:avLst>
          </a:prstGeom>
          <a:solidFill>
            <a:srgbClr val="64748B"/>
          </a:solidFill>
          <a:ln/>
        </p:spPr>
      </p:sp>
      <p:sp>
        <p:nvSpPr>
          <p:cNvPr id="50" name="Text 48"/>
          <p:cNvSpPr/>
          <p:nvPr/>
        </p:nvSpPr>
        <p:spPr>
          <a:xfrm>
            <a:off x="6240780" y="255117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51" name="Shape 49"/>
          <p:cNvSpPr/>
          <p:nvPr/>
        </p:nvSpPr>
        <p:spPr>
          <a:xfrm>
            <a:off x="7338060" y="2551176"/>
            <a:ext cx="777240" cy="246888"/>
          </a:xfrm>
          <a:prstGeom prst="roundRect">
            <a:avLst>
              <a:gd name="adj" fmla="val 22222"/>
            </a:avLst>
          </a:prstGeom>
          <a:solidFill>
            <a:srgbClr val="10B981"/>
          </a:solidFill>
          <a:ln/>
        </p:spPr>
      </p:sp>
      <p:sp>
        <p:nvSpPr>
          <p:cNvPr id="52" name="Text 50"/>
          <p:cNvSpPr/>
          <p:nvPr/>
        </p:nvSpPr>
        <p:spPr>
          <a:xfrm>
            <a:off x="7338060" y="255117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53" name="Shape 51"/>
          <p:cNvSpPr/>
          <p:nvPr/>
        </p:nvSpPr>
        <p:spPr>
          <a:xfrm>
            <a:off x="457200" y="2834640"/>
            <a:ext cx="7772400" cy="320040"/>
          </a:xfrm>
          <a:prstGeom prst="rect">
            <a:avLst/>
          </a:prstGeom>
          <a:solidFill>
            <a:srgbClr val="F8FAFC"/>
          </a:solidFill>
          <a:ln/>
        </p:spPr>
      </p:sp>
      <p:sp>
        <p:nvSpPr>
          <p:cNvPr id="54" name="Text 52"/>
          <p:cNvSpPr/>
          <p:nvPr/>
        </p:nvSpPr>
        <p:spPr>
          <a:xfrm>
            <a:off x="548640" y="283464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Connector breadth</a:t>
            </a:r>
            <a:endParaRPr lang="en-US" sz="1000" dirty="0"/>
          </a:p>
        </p:txBody>
      </p:sp>
      <p:sp>
        <p:nvSpPr>
          <p:cNvPr id="55" name="Shape 53"/>
          <p:cNvSpPr/>
          <p:nvPr/>
        </p:nvSpPr>
        <p:spPr>
          <a:xfrm>
            <a:off x="2674620" y="2871216"/>
            <a:ext cx="777240" cy="246888"/>
          </a:xfrm>
          <a:prstGeom prst="roundRect">
            <a:avLst>
              <a:gd name="adj" fmla="val 22222"/>
            </a:avLst>
          </a:prstGeom>
          <a:solidFill>
            <a:srgbClr val="10B981"/>
          </a:solidFill>
          <a:ln/>
        </p:spPr>
      </p:sp>
      <p:sp>
        <p:nvSpPr>
          <p:cNvPr id="56" name="Text 54"/>
          <p:cNvSpPr/>
          <p:nvPr/>
        </p:nvSpPr>
        <p:spPr>
          <a:xfrm>
            <a:off x="2674620" y="287121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57" name="Shape 55"/>
          <p:cNvSpPr/>
          <p:nvPr/>
        </p:nvSpPr>
        <p:spPr>
          <a:xfrm>
            <a:off x="3863340" y="2871216"/>
            <a:ext cx="777240" cy="246888"/>
          </a:xfrm>
          <a:prstGeom prst="roundRect">
            <a:avLst>
              <a:gd name="adj" fmla="val 22222"/>
            </a:avLst>
          </a:prstGeom>
          <a:solidFill>
            <a:srgbClr val="F59E0B"/>
          </a:solidFill>
          <a:ln/>
        </p:spPr>
      </p:sp>
      <p:sp>
        <p:nvSpPr>
          <p:cNvPr id="58" name="Text 56"/>
          <p:cNvSpPr/>
          <p:nvPr/>
        </p:nvSpPr>
        <p:spPr>
          <a:xfrm>
            <a:off x="3863340" y="287121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59" name="Shape 57"/>
          <p:cNvSpPr/>
          <p:nvPr/>
        </p:nvSpPr>
        <p:spPr>
          <a:xfrm>
            <a:off x="5052060" y="2871216"/>
            <a:ext cx="777240" cy="246888"/>
          </a:xfrm>
          <a:prstGeom prst="roundRect">
            <a:avLst>
              <a:gd name="adj" fmla="val 22222"/>
            </a:avLst>
          </a:prstGeom>
          <a:solidFill>
            <a:srgbClr val="10B981"/>
          </a:solidFill>
          <a:ln/>
        </p:spPr>
      </p:sp>
      <p:sp>
        <p:nvSpPr>
          <p:cNvPr id="60" name="Text 58"/>
          <p:cNvSpPr/>
          <p:nvPr/>
        </p:nvSpPr>
        <p:spPr>
          <a:xfrm>
            <a:off x="5052060" y="287121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61" name="Shape 59"/>
          <p:cNvSpPr/>
          <p:nvPr/>
        </p:nvSpPr>
        <p:spPr>
          <a:xfrm>
            <a:off x="6240780" y="2871216"/>
            <a:ext cx="777240" cy="246888"/>
          </a:xfrm>
          <a:prstGeom prst="roundRect">
            <a:avLst>
              <a:gd name="adj" fmla="val 22222"/>
            </a:avLst>
          </a:prstGeom>
          <a:solidFill>
            <a:srgbClr val="F59E0B"/>
          </a:solidFill>
          <a:ln/>
        </p:spPr>
      </p:sp>
      <p:sp>
        <p:nvSpPr>
          <p:cNvPr id="62" name="Text 60"/>
          <p:cNvSpPr/>
          <p:nvPr/>
        </p:nvSpPr>
        <p:spPr>
          <a:xfrm>
            <a:off x="6240780" y="287121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63" name="Shape 61"/>
          <p:cNvSpPr/>
          <p:nvPr/>
        </p:nvSpPr>
        <p:spPr>
          <a:xfrm>
            <a:off x="7338060" y="2871216"/>
            <a:ext cx="777240" cy="246888"/>
          </a:xfrm>
          <a:prstGeom prst="roundRect">
            <a:avLst>
              <a:gd name="adj" fmla="val 22222"/>
            </a:avLst>
          </a:prstGeom>
          <a:solidFill>
            <a:srgbClr val="F59E0B"/>
          </a:solidFill>
          <a:ln/>
        </p:spPr>
      </p:sp>
      <p:sp>
        <p:nvSpPr>
          <p:cNvPr id="64" name="Text 62"/>
          <p:cNvSpPr/>
          <p:nvPr/>
        </p:nvSpPr>
        <p:spPr>
          <a:xfrm>
            <a:off x="7338060" y="287121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Adequate</a:t>
            </a:r>
            <a:endParaRPr lang="en-US" sz="800" dirty="0"/>
          </a:p>
        </p:txBody>
      </p:sp>
      <p:sp>
        <p:nvSpPr>
          <p:cNvPr id="65" name="Shape 63"/>
          <p:cNvSpPr/>
          <p:nvPr/>
        </p:nvSpPr>
        <p:spPr>
          <a:xfrm>
            <a:off x="457200" y="3154680"/>
            <a:ext cx="7772400" cy="320040"/>
          </a:xfrm>
          <a:prstGeom prst="rect">
            <a:avLst/>
          </a:prstGeom>
          <a:solidFill>
            <a:srgbClr val="FFFFFF"/>
          </a:solidFill>
          <a:ln/>
        </p:spPr>
      </p:sp>
      <p:sp>
        <p:nvSpPr>
          <p:cNvPr id="66" name="Text 64"/>
          <p:cNvSpPr/>
          <p:nvPr/>
        </p:nvSpPr>
        <p:spPr>
          <a:xfrm>
            <a:off x="548640" y="315468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Persistent memory</a:t>
            </a:r>
            <a:endParaRPr lang="en-US" sz="1000" dirty="0"/>
          </a:p>
        </p:txBody>
      </p:sp>
      <p:sp>
        <p:nvSpPr>
          <p:cNvPr id="67" name="Shape 65"/>
          <p:cNvSpPr/>
          <p:nvPr/>
        </p:nvSpPr>
        <p:spPr>
          <a:xfrm>
            <a:off x="2674620" y="3191256"/>
            <a:ext cx="777240" cy="246888"/>
          </a:xfrm>
          <a:prstGeom prst="roundRect">
            <a:avLst>
              <a:gd name="adj" fmla="val 22222"/>
            </a:avLst>
          </a:prstGeom>
          <a:solidFill>
            <a:srgbClr val="EF4444"/>
          </a:solidFill>
          <a:ln/>
        </p:spPr>
      </p:sp>
      <p:sp>
        <p:nvSpPr>
          <p:cNvPr id="68" name="Text 66"/>
          <p:cNvSpPr/>
          <p:nvPr/>
        </p:nvSpPr>
        <p:spPr>
          <a:xfrm>
            <a:off x="2674620" y="319125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Weak</a:t>
            </a:r>
            <a:endParaRPr lang="en-US" sz="800" dirty="0"/>
          </a:p>
        </p:txBody>
      </p:sp>
      <p:sp>
        <p:nvSpPr>
          <p:cNvPr id="69" name="Shape 67"/>
          <p:cNvSpPr/>
          <p:nvPr/>
        </p:nvSpPr>
        <p:spPr>
          <a:xfrm>
            <a:off x="3863340" y="3191256"/>
            <a:ext cx="777240" cy="246888"/>
          </a:xfrm>
          <a:prstGeom prst="roundRect">
            <a:avLst>
              <a:gd name="adj" fmla="val 22222"/>
            </a:avLst>
          </a:prstGeom>
          <a:solidFill>
            <a:srgbClr val="EF4444"/>
          </a:solidFill>
          <a:ln/>
        </p:spPr>
      </p:sp>
      <p:sp>
        <p:nvSpPr>
          <p:cNvPr id="70" name="Text 68"/>
          <p:cNvSpPr/>
          <p:nvPr/>
        </p:nvSpPr>
        <p:spPr>
          <a:xfrm>
            <a:off x="3863340" y="319125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Weak</a:t>
            </a:r>
            <a:endParaRPr lang="en-US" sz="800" dirty="0"/>
          </a:p>
        </p:txBody>
      </p:sp>
      <p:sp>
        <p:nvSpPr>
          <p:cNvPr id="71" name="Shape 69"/>
          <p:cNvSpPr/>
          <p:nvPr/>
        </p:nvSpPr>
        <p:spPr>
          <a:xfrm>
            <a:off x="5052060" y="3191256"/>
            <a:ext cx="777240" cy="246888"/>
          </a:xfrm>
          <a:prstGeom prst="roundRect">
            <a:avLst>
              <a:gd name="adj" fmla="val 22222"/>
            </a:avLst>
          </a:prstGeom>
          <a:solidFill>
            <a:srgbClr val="EF4444"/>
          </a:solidFill>
          <a:ln/>
        </p:spPr>
      </p:sp>
      <p:sp>
        <p:nvSpPr>
          <p:cNvPr id="72" name="Text 70"/>
          <p:cNvSpPr/>
          <p:nvPr/>
        </p:nvSpPr>
        <p:spPr>
          <a:xfrm>
            <a:off x="5052060" y="319125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Weak</a:t>
            </a:r>
            <a:endParaRPr lang="en-US" sz="800" dirty="0"/>
          </a:p>
        </p:txBody>
      </p:sp>
      <p:sp>
        <p:nvSpPr>
          <p:cNvPr id="73" name="Shape 71"/>
          <p:cNvSpPr/>
          <p:nvPr/>
        </p:nvSpPr>
        <p:spPr>
          <a:xfrm>
            <a:off x="6240780" y="3191256"/>
            <a:ext cx="777240" cy="246888"/>
          </a:xfrm>
          <a:prstGeom prst="roundRect">
            <a:avLst>
              <a:gd name="adj" fmla="val 22222"/>
            </a:avLst>
          </a:prstGeom>
          <a:solidFill>
            <a:srgbClr val="EF4444"/>
          </a:solidFill>
          <a:ln/>
        </p:spPr>
      </p:sp>
      <p:sp>
        <p:nvSpPr>
          <p:cNvPr id="74" name="Text 72"/>
          <p:cNvSpPr/>
          <p:nvPr/>
        </p:nvSpPr>
        <p:spPr>
          <a:xfrm>
            <a:off x="6240780" y="319125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Weak</a:t>
            </a:r>
            <a:endParaRPr lang="en-US" sz="800" dirty="0"/>
          </a:p>
        </p:txBody>
      </p:sp>
      <p:sp>
        <p:nvSpPr>
          <p:cNvPr id="75" name="Shape 73"/>
          <p:cNvSpPr/>
          <p:nvPr/>
        </p:nvSpPr>
        <p:spPr>
          <a:xfrm>
            <a:off x="7338060" y="3191256"/>
            <a:ext cx="777240" cy="246888"/>
          </a:xfrm>
          <a:prstGeom prst="roundRect">
            <a:avLst>
              <a:gd name="adj" fmla="val 22222"/>
            </a:avLst>
          </a:prstGeom>
          <a:solidFill>
            <a:srgbClr val="10B981"/>
          </a:solidFill>
          <a:ln/>
        </p:spPr>
      </p:sp>
      <p:sp>
        <p:nvSpPr>
          <p:cNvPr id="76" name="Text 74"/>
          <p:cNvSpPr/>
          <p:nvPr/>
        </p:nvSpPr>
        <p:spPr>
          <a:xfrm>
            <a:off x="7338060" y="319125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77" name="Shape 75"/>
          <p:cNvSpPr/>
          <p:nvPr/>
        </p:nvSpPr>
        <p:spPr>
          <a:xfrm>
            <a:off x="457200" y="3474720"/>
            <a:ext cx="7772400" cy="320040"/>
          </a:xfrm>
          <a:prstGeom prst="rect">
            <a:avLst/>
          </a:prstGeom>
          <a:solidFill>
            <a:srgbClr val="F8FAFC"/>
          </a:solidFill>
          <a:ln/>
        </p:spPr>
      </p:sp>
      <p:sp>
        <p:nvSpPr>
          <p:cNvPr id="78" name="Text 76"/>
          <p:cNvSpPr/>
          <p:nvPr/>
        </p:nvSpPr>
        <p:spPr>
          <a:xfrm>
            <a:off x="548640" y="347472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Compliance bundle</a:t>
            </a:r>
            <a:endParaRPr lang="en-US" sz="1000" dirty="0"/>
          </a:p>
        </p:txBody>
      </p:sp>
      <p:sp>
        <p:nvSpPr>
          <p:cNvPr id="79" name="Shape 77"/>
          <p:cNvSpPr/>
          <p:nvPr/>
        </p:nvSpPr>
        <p:spPr>
          <a:xfrm>
            <a:off x="2674620" y="3511296"/>
            <a:ext cx="777240" cy="246888"/>
          </a:xfrm>
          <a:prstGeom prst="roundRect">
            <a:avLst>
              <a:gd name="adj" fmla="val 22222"/>
            </a:avLst>
          </a:prstGeom>
          <a:solidFill>
            <a:srgbClr val="10B981"/>
          </a:solidFill>
          <a:ln/>
        </p:spPr>
      </p:sp>
      <p:sp>
        <p:nvSpPr>
          <p:cNvPr id="80" name="Text 78"/>
          <p:cNvSpPr/>
          <p:nvPr/>
        </p:nvSpPr>
        <p:spPr>
          <a:xfrm>
            <a:off x="2674620" y="35112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81" name="Shape 79"/>
          <p:cNvSpPr/>
          <p:nvPr/>
        </p:nvSpPr>
        <p:spPr>
          <a:xfrm>
            <a:off x="3863340" y="3511296"/>
            <a:ext cx="777240" cy="246888"/>
          </a:xfrm>
          <a:prstGeom prst="roundRect">
            <a:avLst>
              <a:gd name="adj" fmla="val 22222"/>
            </a:avLst>
          </a:prstGeom>
          <a:solidFill>
            <a:srgbClr val="10B981"/>
          </a:solidFill>
          <a:ln/>
        </p:spPr>
      </p:sp>
      <p:sp>
        <p:nvSpPr>
          <p:cNvPr id="82" name="Text 80"/>
          <p:cNvSpPr/>
          <p:nvPr/>
        </p:nvSpPr>
        <p:spPr>
          <a:xfrm>
            <a:off x="3863340" y="35112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83" name="Shape 81"/>
          <p:cNvSpPr/>
          <p:nvPr/>
        </p:nvSpPr>
        <p:spPr>
          <a:xfrm>
            <a:off x="5052060" y="3511296"/>
            <a:ext cx="777240" cy="246888"/>
          </a:xfrm>
          <a:prstGeom prst="roundRect">
            <a:avLst>
              <a:gd name="adj" fmla="val 22222"/>
            </a:avLst>
          </a:prstGeom>
          <a:solidFill>
            <a:srgbClr val="10B981"/>
          </a:solidFill>
          <a:ln/>
        </p:spPr>
      </p:sp>
      <p:sp>
        <p:nvSpPr>
          <p:cNvPr id="84" name="Text 82"/>
          <p:cNvSpPr/>
          <p:nvPr/>
        </p:nvSpPr>
        <p:spPr>
          <a:xfrm>
            <a:off x="5052060" y="35112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85" name="Shape 83"/>
          <p:cNvSpPr/>
          <p:nvPr/>
        </p:nvSpPr>
        <p:spPr>
          <a:xfrm>
            <a:off x="6240780" y="3511296"/>
            <a:ext cx="777240" cy="246888"/>
          </a:xfrm>
          <a:prstGeom prst="roundRect">
            <a:avLst>
              <a:gd name="adj" fmla="val 22222"/>
            </a:avLst>
          </a:prstGeom>
          <a:solidFill>
            <a:srgbClr val="10B981"/>
          </a:solidFill>
          <a:ln/>
        </p:spPr>
      </p:sp>
      <p:sp>
        <p:nvSpPr>
          <p:cNvPr id="86" name="Text 84"/>
          <p:cNvSpPr/>
          <p:nvPr/>
        </p:nvSpPr>
        <p:spPr>
          <a:xfrm>
            <a:off x="6240780" y="35112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87" name="Shape 85"/>
          <p:cNvSpPr/>
          <p:nvPr/>
        </p:nvSpPr>
        <p:spPr>
          <a:xfrm>
            <a:off x="7338060" y="3511296"/>
            <a:ext cx="777240" cy="246888"/>
          </a:xfrm>
          <a:prstGeom prst="roundRect">
            <a:avLst>
              <a:gd name="adj" fmla="val 22222"/>
            </a:avLst>
          </a:prstGeom>
          <a:solidFill>
            <a:srgbClr val="64748B"/>
          </a:solidFill>
          <a:ln/>
        </p:spPr>
      </p:sp>
      <p:sp>
        <p:nvSpPr>
          <p:cNvPr id="88" name="Text 86"/>
          <p:cNvSpPr/>
          <p:nvPr/>
        </p:nvSpPr>
        <p:spPr>
          <a:xfrm>
            <a:off x="7338060" y="351129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89" name="Shape 87"/>
          <p:cNvSpPr/>
          <p:nvPr/>
        </p:nvSpPr>
        <p:spPr>
          <a:xfrm>
            <a:off x="457200" y="3794760"/>
            <a:ext cx="7772400" cy="320040"/>
          </a:xfrm>
          <a:prstGeom prst="rect">
            <a:avLst/>
          </a:prstGeom>
          <a:solidFill>
            <a:srgbClr val="FFFFFF"/>
          </a:solidFill>
          <a:ln/>
        </p:spPr>
      </p:sp>
      <p:sp>
        <p:nvSpPr>
          <p:cNvPr id="90" name="Text 88"/>
          <p:cNvSpPr/>
          <p:nvPr/>
        </p:nvSpPr>
        <p:spPr>
          <a:xfrm>
            <a:off x="548640" y="379476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Mobile / native</a:t>
            </a:r>
            <a:endParaRPr lang="en-US" sz="1000" dirty="0"/>
          </a:p>
        </p:txBody>
      </p:sp>
      <p:sp>
        <p:nvSpPr>
          <p:cNvPr id="91" name="Shape 89"/>
          <p:cNvSpPr/>
          <p:nvPr/>
        </p:nvSpPr>
        <p:spPr>
          <a:xfrm>
            <a:off x="2674620" y="3831336"/>
            <a:ext cx="777240" cy="246888"/>
          </a:xfrm>
          <a:prstGeom prst="roundRect">
            <a:avLst>
              <a:gd name="adj" fmla="val 22222"/>
            </a:avLst>
          </a:prstGeom>
          <a:solidFill>
            <a:srgbClr val="10B981"/>
          </a:solidFill>
          <a:ln/>
        </p:spPr>
      </p:sp>
      <p:sp>
        <p:nvSpPr>
          <p:cNvPr id="92" name="Text 90"/>
          <p:cNvSpPr/>
          <p:nvPr/>
        </p:nvSpPr>
        <p:spPr>
          <a:xfrm>
            <a:off x="2674620" y="38313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93" name="Shape 91"/>
          <p:cNvSpPr/>
          <p:nvPr/>
        </p:nvSpPr>
        <p:spPr>
          <a:xfrm>
            <a:off x="3863340" y="3831336"/>
            <a:ext cx="777240" cy="246888"/>
          </a:xfrm>
          <a:prstGeom prst="roundRect">
            <a:avLst>
              <a:gd name="adj" fmla="val 22222"/>
            </a:avLst>
          </a:prstGeom>
          <a:solidFill>
            <a:srgbClr val="10B981"/>
          </a:solidFill>
          <a:ln/>
        </p:spPr>
      </p:sp>
      <p:sp>
        <p:nvSpPr>
          <p:cNvPr id="94" name="Text 92"/>
          <p:cNvSpPr/>
          <p:nvPr/>
        </p:nvSpPr>
        <p:spPr>
          <a:xfrm>
            <a:off x="3863340" y="38313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95" name="Shape 93"/>
          <p:cNvSpPr/>
          <p:nvPr/>
        </p:nvSpPr>
        <p:spPr>
          <a:xfrm>
            <a:off x="5052060" y="3831336"/>
            <a:ext cx="777240" cy="246888"/>
          </a:xfrm>
          <a:prstGeom prst="roundRect">
            <a:avLst>
              <a:gd name="adj" fmla="val 22222"/>
            </a:avLst>
          </a:prstGeom>
          <a:solidFill>
            <a:srgbClr val="10B981"/>
          </a:solidFill>
          <a:ln/>
        </p:spPr>
      </p:sp>
      <p:sp>
        <p:nvSpPr>
          <p:cNvPr id="96" name="Text 94"/>
          <p:cNvSpPr/>
          <p:nvPr/>
        </p:nvSpPr>
        <p:spPr>
          <a:xfrm>
            <a:off x="5052060" y="38313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97" name="Shape 95"/>
          <p:cNvSpPr/>
          <p:nvPr/>
        </p:nvSpPr>
        <p:spPr>
          <a:xfrm>
            <a:off x="6240780" y="3831336"/>
            <a:ext cx="777240" cy="246888"/>
          </a:xfrm>
          <a:prstGeom prst="roundRect">
            <a:avLst>
              <a:gd name="adj" fmla="val 22222"/>
            </a:avLst>
          </a:prstGeom>
          <a:solidFill>
            <a:srgbClr val="10B981"/>
          </a:solidFill>
          <a:ln/>
        </p:spPr>
      </p:sp>
      <p:sp>
        <p:nvSpPr>
          <p:cNvPr id="98" name="Text 96"/>
          <p:cNvSpPr/>
          <p:nvPr/>
        </p:nvSpPr>
        <p:spPr>
          <a:xfrm>
            <a:off x="6240780" y="38313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99" name="Shape 97"/>
          <p:cNvSpPr/>
          <p:nvPr/>
        </p:nvSpPr>
        <p:spPr>
          <a:xfrm>
            <a:off x="7338060" y="3831336"/>
            <a:ext cx="777240" cy="246888"/>
          </a:xfrm>
          <a:prstGeom prst="roundRect">
            <a:avLst>
              <a:gd name="adj" fmla="val 22222"/>
            </a:avLst>
          </a:prstGeom>
          <a:solidFill>
            <a:srgbClr val="64748B"/>
          </a:solidFill>
          <a:ln/>
        </p:spPr>
      </p:sp>
      <p:sp>
        <p:nvSpPr>
          <p:cNvPr id="100" name="Text 98"/>
          <p:cNvSpPr/>
          <p:nvPr/>
        </p:nvSpPr>
        <p:spPr>
          <a:xfrm>
            <a:off x="7338060" y="3831336"/>
            <a:ext cx="77724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Absent</a:t>
            </a:r>
            <a:endParaRPr lang="en-US" sz="800" dirty="0"/>
          </a:p>
        </p:txBody>
      </p:sp>
      <p:sp>
        <p:nvSpPr>
          <p:cNvPr id="101" name="Shape 99"/>
          <p:cNvSpPr/>
          <p:nvPr/>
        </p:nvSpPr>
        <p:spPr>
          <a:xfrm>
            <a:off x="457200" y="4114800"/>
            <a:ext cx="7772400" cy="320040"/>
          </a:xfrm>
          <a:prstGeom prst="rect">
            <a:avLst/>
          </a:prstGeom>
          <a:solidFill>
            <a:srgbClr val="F8FAFC"/>
          </a:solidFill>
          <a:ln/>
        </p:spPr>
      </p:sp>
      <p:sp>
        <p:nvSpPr>
          <p:cNvPr id="102" name="Text 100"/>
          <p:cNvSpPr/>
          <p:nvPr/>
        </p:nvSpPr>
        <p:spPr>
          <a:xfrm>
            <a:off x="548640" y="4114800"/>
            <a:ext cx="192024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Pricing</a:t>
            </a:r>
            <a:endParaRPr lang="en-US" sz="1000" dirty="0"/>
          </a:p>
        </p:txBody>
      </p:sp>
      <p:sp>
        <p:nvSpPr>
          <p:cNvPr id="103" name="Text 101"/>
          <p:cNvSpPr/>
          <p:nvPr/>
        </p:nvSpPr>
        <p:spPr>
          <a:xfrm>
            <a:off x="2468880" y="4114800"/>
            <a:ext cx="1188720" cy="320040"/>
          </a:xfrm>
          <a:prstGeom prst="rect">
            <a:avLst/>
          </a:prstGeom>
          <a:noFill/>
          <a:ln/>
        </p:spPr>
        <p:txBody>
          <a:bodyPr wrap="square" lIns="0" tIns="0" rIns="0" bIns="0" rtlCol="0" anchor="ctr"/>
          <a:lstStyle/>
          <a:p>
            <a:pPr algn="ctr" indent="0" marL="0">
              <a:buNone/>
            </a:pPr>
            <a:r>
              <a:rPr lang="en-US" sz="900" dirty="0">
                <a:solidFill>
                  <a:srgbClr val="0F172A"/>
                </a:solidFill>
                <a:latin typeface="Calibri" pitchFamily="34" charset="0"/>
                <a:ea typeface="Calibri" pitchFamily="34" charset="-122"/>
                <a:cs typeface="Calibri" pitchFamily="34" charset="-120"/>
              </a:rPr>
              <a:t>$240K+</a:t>
            </a:r>
            <a:endParaRPr lang="en-US" sz="900" dirty="0"/>
          </a:p>
        </p:txBody>
      </p:sp>
      <p:sp>
        <p:nvSpPr>
          <p:cNvPr id="104" name="Text 102"/>
          <p:cNvSpPr/>
          <p:nvPr/>
        </p:nvSpPr>
        <p:spPr>
          <a:xfrm>
            <a:off x="3657600" y="4114800"/>
            <a:ext cx="1188720" cy="320040"/>
          </a:xfrm>
          <a:prstGeom prst="rect">
            <a:avLst/>
          </a:prstGeom>
          <a:noFill/>
          <a:ln/>
        </p:spPr>
        <p:txBody>
          <a:bodyPr wrap="square" lIns="0" tIns="0" rIns="0" bIns="0" rtlCol="0" anchor="ctr"/>
          <a:lstStyle/>
          <a:p>
            <a:pPr algn="ctr" indent="0" marL="0">
              <a:buNone/>
            </a:pPr>
            <a:r>
              <a:rPr lang="en-US" sz="900" dirty="0">
                <a:solidFill>
                  <a:srgbClr val="0F172A"/>
                </a:solidFill>
                <a:latin typeface="Calibri" pitchFamily="34" charset="0"/>
                <a:ea typeface="Calibri" pitchFamily="34" charset="-122"/>
                <a:cs typeface="Calibri" pitchFamily="34" charset="-120"/>
              </a:rPr>
              <a:t>Bundled</a:t>
            </a:r>
            <a:endParaRPr lang="en-US" sz="900" dirty="0"/>
          </a:p>
        </p:txBody>
      </p:sp>
      <p:sp>
        <p:nvSpPr>
          <p:cNvPr id="105" name="Text 103"/>
          <p:cNvSpPr/>
          <p:nvPr/>
        </p:nvSpPr>
        <p:spPr>
          <a:xfrm>
            <a:off x="4846320" y="4114800"/>
            <a:ext cx="1188720" cy="320040"/>
          </a:xfrm>
          <a:prstGeom prst="rect">
            <a:avLst/>
          </a:prstGeom>
          <a:noFill/>
          <a:ln/>
        </p:spPr>
        <p:txBody>
          <a:bodyPr wrap="square" lIns="0" tIns="0" rIns="0" bIns="0" rtlCol="0" anchor="ctr"/>
          <a:lstStyle/>
          <a:p>
            <a:pPr algn="ctr" indent="0" marL="0">
              <a:buNone/>
            </a:pPr>
            <a:r>
              <a:rPr lang="en-US" sz="900" dirty="0">
                <a:solidFill>
                  <a:srgbClr val="0F172A"/>
                </a:solidFill>
                <a:latin typeface="Calibri" pitchFamily="34" charset="0"/>
                <a:ea typeface="Calibri" pitchFamily="34" charset="-122"/>
                <a:cs typeface="Calibri" pitchFamily="34" charset="-120"/>
              </a:rPr>
              <a:t>Per-seat</a:t>
            </a:r>
            <a:endParaRPr lang="en-US" sz="900" dirty="0"/>
          </a:p>
        </p:txBody>
      </p:sp>
      <p:sp>
        <p:nvSpPr>
          <p:cNvPr id="106" name="Text 104"/>
          <p:cNvSpPr/>
          <p:nvPr/>
        </p:nvSpPr>
        <p:spPr>
          <a:xfrm>
            <a:off x="6035040" y="4114800"/>
            <a:ext cx="1188720" cy="320040"/>
          </a:xfrm>
          <a:prstGeom prst="rect">
            <a:avLst/>
          </a:prstGeom>
          <a:noFill/>
          <a:ln/>
        </p:spPr>
        <p:txBody>
          <a:bodyPr wrap="square" lIns="0" tIns="0" rIns="0" bIns="0" rtlCol="0" anchor="ctr"/>
          <a:lstStyle/>
          <a:p>
            <a:pPr algn="ctr" indent="0" marL="0">
              <a:buNone/>
            </a:pPr>
            <a:r>
              <a:rPr lang="en-US" sz="900" dirty="0">
                <a:solidFill>
                  <a:srgbClr val="0F172A"/>
                </a:solidFill>
                <a:latin typeface="Calibri" pitchFamily="34" charset="0"/>
                <a:ea typeface="Calibri" pitchFamily="34" charset="-122"/>
                <a:cs typeface="Calibri" pitchFamily="34" charset="-120"/>
              </a:rPr>
              <a:t>$18+/mo</a:t>
            </a:r>
            <a:endParaRPr lang="en-US" sz="900" dirty="0"/>
          </a:p>
        </p:txBody>
      </p:sp>
      <p:sp>
        <p:nvSpPr>
          <p:cNvPr id="107" name="Text 105"/>
          <p:cNvSpPr/>
          <p:nvPr/>
        </p:nvSpPr>
        <p:spPr>
          <a:xfrm>
            <a:off x="7223760" y="4114800"/>
            <a:ext cx="1005840" cy="320040"/>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Free</a:t>
            </a:r>
            <a:endParaRPr lang="en-US" sz="900" dirty="0"/>
          </a:p>
        </p:txBody>
      </p:sp>
      <p:sp>
        <p:nvSpPr>
          <p:cNvPr id="108" name="Shape 106"/>
          <p:cNvSpPr/>
          <p:nvPr/>
        </p:nvSpPr>
        <p:spPr>
          <a:xfrm>
            <a:off x="457200" y="4572000"/>
            <a:ext cx="8229600" cy="320040"/>
          </a:xfrm>
          <a:prstGeom prst="rect">
            <a:avLst/>
          </a:prstGeom>
          <a:solidFill>
            <a:srgbClr val="EEF2FF"/>
          </a:solidFill>
          <a:ln/>
        </p:spPr>
      </p:sp>
      <p:sp>
        <p:nvSpPr>
          <p:cNvPr id="109" name="Text 107"/>
          <p:cNvSpPr/>
          <p:nvPr/>
        </p:nvSpPr>
        <p:spPr>
          <a:xfrm>
            <a:off x="640080" y="4572000"/>
            <a:ext cx="7955280" cy="32004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Wedge:  </a:t>
            </a:r>
            <a:pPr indent="0" marL="0">
              <a:buNone/>
            </a:pPr>
            <a:r>
              <a:rPr lang="en-US" sz="1000" dirty="0">
                <a:solidFill>
                  <a:srgbClr val="0F172A"/>
                </a:solidFill>
                <a:latin typeface="Calibri" pitchFamily="34" charset="0"/>
                <a:ea typeface="Calibri" pitchFamily="34" charset="-122"/>
                <a:cs typeface="Calibri" pitchFamily="34" charset="-120"/>
              </a:rPr>
              <a:t>regulated mid-market (50-500 ppl) rejecting cloud-only · AI-power-user developers · companies choking on $240K Glean ACVs</a:t>
            </a:r>
            <a:endParaRPr lang="en-US" sz="1000" dirty="0"/>
          </a:p>
        </p:txBody>
      </p:sp>
      <p:sp>
        <p:nvSpPr>
          <p:cNvPr id="110" name="Text 108"/>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15</a:t>
            </a:r>
            <a:endParaRPr lang="en-US" sz="900" dirty="0"/>
          </a:p>
        </p:txBody>
      </p:sp>
      <p:sp>
        <p:nvSpPr>
          <p:cNvPr id="111" name="Text 109"/>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04 — Enterprise search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600" kern="0" dirty="0">
                <a:solidFill>
                  <a:srgbClr val="4F46E5"/>
                </a:solidFill>
                <a:latin typeface="Calibri" pitchFamily="34" charset="0"/>
                <a:ea typeface="Calibri" pitchFamily="34" charset="-122"/>
                <a:cs typeface="Calibri" pitchFamily="34" charset="-120"/>
              </a:rPr>
              <a:t>Segment 2</a:t>
            </a:r>
            <a:endParaRPr lang="en-US" sz="10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AI memory / agent infrastructure</a:t>
            </a:r>
            <a:endParaRPr lang="en-US" sz="2600" dirty="0"/>
          </a:p>
        </p:txBody>
      </p:sp>
      <p:sp>
        <p:nvSpPr>
          <p:cNvPr id="4" name="Text 2"/>
          <p:cNvSpPr/>
          <p:nvPr/>
        </p:nvSpPr>
        <p:spPr>
          <a:xfrm>
            <a:off x="457200" y="1097280"/>
            <a:ext cx="82296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Where Engram competes — SDK layer, not workflow layer</a:t>
            </a:r>
            <a:endParaRPr lang="en-US" sz="1200" dirty="0"/>
          </a:p>
        </p:txBody>
      </p:sp>
      <p:sp>
        <p:nvSpPr>
          <p:cNvPr id="5" name="Shape 3"/>
          <p:cNvSpPr/>
          <p:nvPr/>
        </p:nvSpPr>
        <p:spPr>
          <a:xfrm>
            <a:off x="457200" y="1508760"/>
            <a:ext cx="1874520" cy="228600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1508760"/>
            <a:ext cx="1874520" cy="73152"/>
          </a:xfrm>
          <a:prstGeom prst="rect">
            <a:avLst/>
          </a:prstGeom>
          <a:solidFill>
            <a:srgbClr val="4F46E5"/>
          </a:solidFill>
          <a:ln/>
        </p:spPr>
      </p:sp>
      <p:sp>
        <p:nvSpPr>
          <p:cNvPr id="7" name="Text 5"/>
          <p:cNvSpPr/>
          <p:nvPr/>
        </p:nvSpPr>
        <p:spPr>
          <a:xfrm>
            <a:off x="548640" y="1673352"/>
            <a:ext cx="169164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Mem0</a:t>
            </a:r>
            <a:endParaRPr lang="en-US" sz="1600" dirty="0"/>
          </a:p>
        </p:txBody>
      </p:sp>
      <p:sp>
        <p:nvSpPr>
          <p:cNvPr id="8" name="Text 6"/>
          <p:cNvSpPr/>
          <p:nvPr/>
        </p:nvSpPr>
        <p:spPr>
          <a:xfrm>
            <a:off x="548640" y="2039112"/>
            <a:ext cx="1691640" cy="4114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26% &gt; OpenAI memory · LOCOMO benchmark</a:t>
            </a:r>
            <a:endParaRPr lang="en-US" sz="900" dirty="0"/>
          </a:p>
        </p:txBody>
      </p:sp>
      <p:sp>
        <p:nvSpPr>
          <p:cNvPr id="9" name="Text 7"/>
          <p:cNvSpPr/>
          <p:nvPr/>
        </p:nvSpPr>
        <p:spPr>
          <a:xfrm>
            <a:off x="548640" y="2496312"/>
            <a:ext cx="1691640" cy="182880"/>
          </a:xfrm>
          <a:prstGeom prst="rect">
            <a:avLst/>
          </a:prstGeom>
          <a:noFill/>
          <a:ln/>
        </p:spPr>
        <p:txBody>
          <a:bodyPr wrap="square" lIns="0" tIns="0" rIns="0" bIns="0" rtlCol="0" anchor="ctr"/>
          <a:lstStyle/>
          <a:p>
            <a:pPr indent="0" marL="0">
              <a:buNone/>
            </a:pPr>
            <a:r>
              <a:rPr lang="en-US" sz="800" b="1" spc="200" kern="0" dirty="0">
                <a:solidFill>
                  <a:srgbClr val="4F46E5"/>
                </a:solidFill>
                <a:latin typeface="Calibri" pitchFamily="34" charset="0"/>
                <a:ea typeface="Calibri" pitchFamily="34" charset="-122"/>
                <a:cs typeface="Calibri" pitchFamily="34" charset="-120"/>
              </a:rPr>
              <a:t>Pricing</a:t>
            </a:r>
            <a:endParaRPr lang="en-US" sz="800" dirty="0"/>
          </a:p>
        </p:txBody>
      </p:sp>
      <p:sp>
        <p:nvSpPr>
          <p:cNvPr id="10" name="Text 8"/>
          <p:cNvSpPr/>
          <p:nvPr/>
        </p:nvSpPr>
        <p:spPr>
          <a:xfrm>
            <a:off x="548640" y="2679192"/>
            <a:ext cx="1691640" cy="22860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Free · $19 · $249/mo</a:t>
            </a:r>
            <a:endParaRPr lang="en-US" sz="950" dirty="0"/>
          </a:p>
        </p:txBody>
      </p:sp>
      <p:sp>
        <p:nvSpPr>
          <p:cNvPr id="11" name="Text 9"/>
          <p:cNvSpPr/>
          <p:nvPr/>
        </p:nvSpPr>
        <p:spPr>
          <a:xfrm>
            <a:off x="548640" y="2926080"/>
            <a:ext cx="1691640" cy="182880"/>
          </a:xfrm>
          <a:prstGeom prst="rect">
            <a:avLst/>
          </a:prstGeom>
          <a:noFill/>
          <a:ln/>
        </p:spPr>
        <p:txBody>
          <a:bodyPr wrap="square" lIns="0" tIns="0" rIns="0" bIns="0" rtlCol="0" anchor="ctr"/>
          <a:lstStyle/>
          <a:p>
            <a:pPr indent="0" marL="0">
              <a:buNone/>
            </a:pPr>
            <a:r>
              <a:rPr lang="en-US" sz="800" b="1" spc="200" kern="0" dirty="0">
                <a:solidFill>
                  <a:srgbClr val="10B981"/>
                </a:solidFill>
                <a:latin typeface="Calibri" pitchFamily="34" charset="0"/>
                <a:ea typeface="Calibri" pitchFamily="34" charset="-122"/>
                <a:cs typeface="Calibri" pitchFamily="34" charset="-120"/>
              </a:rPr>
              <a:t>Edge</a:t>
            </a:r>
            <a:endParaRPr lang="en-US" sz="800" dirty="0"/>
          </a:p>
        </p:txBody>
      </p:sp>
      <p:sp>
        <p:nvSpPr>
          <p:cNvPr id="12" name="Text 10"/>
          <p:cNvSpPr/>
          <p:nvPr/>
        </p:nvSpPr>
        <p:spPr>
          <a:xfrm>
            <a:off x="548640" y="3099816"/>
            <a:ext cx="1691640" cy="3200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Hybrid vector+graph+KV</a:t>
            </a:r>
            <a:endParaRPr lang="en-US" sz="950" dirty="0"/>
          </a:p>
        </p:txBody>
      </p:sp>
      <p:sp>
        <p:nvSpPr>
          <p:cNvPr id="13" name="Text 11"/>
          <p:cNvSpPr/>
          <p:nvPr/>
        </p:nvSpPr>
        <p:spPr>
          <a:xfrm>
            <a:off x="548640" y="3383280"/>
            <a:ext cx="1691640" cy="182880"/>
          </a:xfrm>
          <a:prstGeom prst="rect">
            <a:avLst/>
          </a:prstGeom>
          <a:noFill/>
          <a:ln/>
        </p:spPr>
        <p:txBody>
          <a:bodyPr wrap="square" lIns="0" tIns="0" rIns="0" bIns="0" rtlCol="0" anchor="ctr"/>
          <a:lstStyle/>
          <a:p>
            <a:pPr indent="0" marL="0">
              <a:buNone/>
            </a:pPr>
            <a:r>
              <a:rPr lang="en-US" sz="800" b="1" spc="200" kern="0" dirty="0">
                <a:solidFill>
                  <a:srgbClr val="EF4444"/>
                </a:solidFill>
                <a:latin typeface="Calibri" pitchFamily="34" charset="0"/>
                <a:ea typeface="Calibri" pitchFamily="34" charset="-122"/>
                <a:cs typeface="Calibri" pitchFamily="34" charset="-120"/>
              </a:rPr>
              <a:t>Watch</a:t>
            </a:r>
            <a:endParaRPr lang="en-US" sz="800" dirty="0"/>
          </a:p>
        </p:txBody>
      </p:sp>
      <p:sp>
        <p:nvSpPr>
          <p:cNvPr id="14" name="Text 12"/>
          <p:cNvSpPr/>
          <p:nvPr/>
        </p:nvSpPr>
        <p:spPr>
          <a:xfrm>
            <a:off x="548640" y="3557016"/>
            <a:ext cx="1691640" cy="27432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SDK only, no end-user surface</a:t>
            </a:r>
            <a:endParaRPr lang="en-US" sz="950" dirty="0"/>
          </a:p>
        </p:txBody>
      </p:sp>
      <p:sp>
        <p:nvSpPr>
          <p:cNvPr id="15" name="Shape 13"/>
          <p:cNvSpPr/>
          <p:nvPr/>
        </p:nvSpPr>
        <p:spPr>
          <a:xfrm>
            <a:off x="2514600" y="1508760"/>
            <a:ext cx="1874520" cy="228600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2514600" y="1508760"/>
            <a:ext cx="1874520" cy="73152"/>
          </a:xfrm>
          <a:prstGeom prst="rect">
            <a:avLst/>
          </a:prstGeom>
          <a:solidFill>
            <a:srgbClr val="4F46E5"/>
          </a:solidFill>
          <a:ln/>
        </p:spPr>
      </p:sp>
      <p:sp>
        <p:nvSpPr>
          <p:cNvPr id="17" name="Text 15"/>
          <p:cNvSpPr/>
          <p:nvPr/>
        </p:nvSpPr>
        <p:spPr>
          <a:xfrm>
            <a:off x="2606040" y="1673352"/>
            <a:ext cx="169164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Zep</a:t>
            </a:r>
            <a:endParaRPr lang="en-US" sz="1600" dirty="0"/>
          </a:p>
        </p:txBody>
      </p:sp>
      <p:sp>
        <p:nvSpPr>
          <p:cNvPr id="18" name="Text 16"/>
          <p:cNvSpPr/>
          <p:nvPr/>
        </p:nvSpPr>
        <p:spPr>
          <a:xfrm>
            <a:off x="2606040" y="2039112"/>
            <a:ext cx="1691640" cy="4114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Sub-200ms retrieval · temporal KG</a:t>
            </a:r>
            <a:endParaRPr lang="en-US" sz="900" dirty="0"/>
          </a:p>
        </p:txBody>
      </p:sp>
      <p:sp>
        <p:nvSpPr>
          <p:cNvPr id="19" name="Text 17"/>
          <p:cNvSpPr/>
          <p:nvPr/>
        </p:nvSpPr>
        <p:spPr>
          <a:xfrm>
            <a:off x="2606040" y="2496312"/>
            <a:ext cx="1691640" cy="182880"/>
          </a:xfrm>
          <a:prstGeom prst="rect">
            <a:avLst/>
          </a:prstGeom>
          <a:noFill/>
          <a:ln/>
        </p:spPr>
        <p:txBody>
          <a:bodyPr wrap="square" lIns="0" tIns="0" rIns="0" bIns="0" rtlCol="0" anchor="ctr"/>
          <a:lstStyle/>
          <a:p>
            <a:pPr indent="0" marL="0">
              <a:buNone/>
            </a:pPr>
            <a:r>
              <a:rPr lang="en-US" sz="800" b="1" spc="200" kern="0" dirty="0">
                <a:solidFill>
                  <a:srgbClr val="4F46E5"/>
                </a:solidFill>
                <a:latin typeface="Calibri" pitchFamily="34" charset="0"/>
                <a:ea typeface="Calibri" pitchFamily="34" charset="-122"/>
                <a:cs typeface="Calibri" pitchFamily="34" charset="-120"/>
              </a:rPr>
              <a:t>Pricing</a:t>
            </a:r>
            <a:endParaRPr lang="en-US" sz="800" dirty="0"/>
          </a:p>
        </p:txBody>
      </p:sp>
      <p:sp>
        <p:nvSpPr>
          <p:cNvPr id="20" name="Text 18"/>
          <p:cNvSpPr/>
          <p:nvPr/>
        </p:nvSpPr>
        <p:spPr>
          <a:xfrm>
            <a:off x="2606040" y="2679192"/>
            <a:ext cx="1691640" cy="22860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Credit-based · Graphiti OSS</a:t>
            </a:r>
            <a:endParaRPr lang="en-US" sz="950" dirty="0"/>
          </a:p>
        </p:txBody>
      </p:sp>
      <p:sp>
        <p:nvSpPr>
          <p:cNvPr id="21" name="Text 19"/>
          <p:cNvSpPr/>
          <p:nvPr/>
        </p:nvSpPr>
        <p:spPr>
          <a:xfrm>
            <a:off x="2606040" y="2926080"/>
            <a:ext cx="1691640" cy="182880"/>
          </a:xfrm>
          <a:prstGeom prst="rect">
            <a:avLst/>
          </a:prstGeom>
          <a:noFill/>
          <a:ln/>
        </p:spPr>
        <p:txBody>
          <a:bodyPr wrap="square" lIns="0" tIns="0" rIns="0" bIns="0" rtlCol="0" anchor="ctr"/>
          <a:lstStyle/>
          <a:p>
            <a:pPr indent="0" marL="0">
              <a:buNone/>
            </a:pPr>
            <a:r>
              <a:rPr lang="en-US" sz="800" b="1" spc="200" kern="0" dirty="0">
                <a:solidFill>
                  <a:srgbClr val="10B981"/>
                </a:solidFill>
                <a:latin typeface="Calibri" pitchFamily="34" charset="0"/>
                <a:ea typeface="Calibri" pitchFamily="34" charset="-122"/>
                <a:cs typeface="Calibri" pitchFamily="34" charset="-120"/>
              </a:rPr>
              <a:t>Edge</a:t>
            </a:r>
            <a:endParaRPr lang="en-US" sz="800" dirty="0"/>
          </a:p>
        </p:txBody>
      </p:sp>
      <p:sp>
        <p:nvSpPr>
          <p:cNvPr id="22" name="Text 20"/>
          <p:cNvSpPr/>
          <p:nvPr/>
        </p:nvSpPr>
        <p:spPr>
          <a:xfrm>
            <a:off x="2606040" y="3099816"/>
            <a:ext cx="1691640" cy="3200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Best for temporal reasoning</a:t>
            </a:r>
            <a:endParaRPr lang="en-US" sz="950" dirty="0"/>
          </a:p>
        </p:txBody>
      </p:sp>
      <p:sp>
        <p:nvSpPr>
          <p:cNvPr id="23" name="Text 21"/>
          <p:cNvSpPr/>
          <p:nvPr/>
        </p:nvSpPr>
        <p:spPr>
          <a:xfrm>
            <a:off x="2606040" y="3383280"/>
            <a:ext cx="1691640" cy="182880"/>
          </a:xfrm>
          <a:prstGeom prst="rect">
            <a:avLst/>
          </a:prstGeom>
          <a:noFill/>
          <a:ln/>
        </p:spPr>
        <p:txBody>
          <a:bodyPr wrap="square" lIns="0" tIns="0" rIns="0" bIns="0" rtlCol="0" anchor="ctr"/>
          <a:lstStyle/>
          <a:p>
            <a:pPr indent="0" marL="0">
              <a:buNone/>
            </a:pPr>
            <a:r>
              <a:rPr lang="en-US" sz="800" b="1" spc="200" kern="0" dirty="0">
                <a:solidFill>
                  <a:srgbClr val="EF4444"/>
                </a:solidFill>
                <a:latin typeface="Calibri" pitchFamily="34" charset="0"/>
                <a:ea typeface="Calibri" pitchFamily="34" charset="-122"/>
                <a:cs typeface="Calibri" pitchFamily="34" charset="-120"/>
              </a:rPr>
              <a:t>Watch</a:t>
            </a:r>
            <a:endParaRPr lang="en-US" sz="800" dirty="0"/>
          </a:p>
        </p:txBody>
      </p:sp>
      <p:sp>
        <p:nvSpPr>
          <p:cNvPr id="24" name="Text 22"/>
          <p:cNvSpPr/>
          <p:nvPr/>
        </p:nvSpPr>
        <p:spPr>
          <a:xfrm>
            <a:off x="2606040" y="3557016"/>
            <a:ext cx="1691640" cy="27432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Heavy deps (Neo4j/Kuzu) · CE deprecated</a:t>
            </a:r>
            <a:endParaRPr lang="en-US" sz="950" dirty="0"/>
          </a:p>
        </p:txBody>
      </p:sp>
      <p:sp>
        <p:nvSpPr>
          <p:cNvPr id="25" name="Shape 23"/>
          <p:cNvSpPr/>
          <p:nvPr/>
        </p:nvSpPr>
        <p:spPr>
          <a:xfrm>
            <a:off x="4572000" y="1508760"/>
            <a:ext cx="1874520" cy="228600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26" name="Shape 24"/>
          <p:cNvSpPr/>
          <p:nvPr/>
        </p:nvSpPr>
        <p:spPr>
          <a:xfrm>
            <a:off x="4572000" y="1508760"/>
            <a:ext cx="1874520" cy="73152"/>
          </a:xfrm>
          <a:prstGeom prst="rect">
            <a:avLst/>
          </a:prstGeom>
          <a:solidFill>
            <a:srgbClr val="4F46E5"/>
          </a:solidFill>
          <a:ln/>
        </p:spPr>
      </p:sp>
      <p:sp>
        <p:nvSpPr>
          <p:cNvPr id="27" name="Text 25"/>
          <p:cNvSpPr/>
          <p:nvPr/>
        </p:nvSpPr>
        <p:spPr>
          <a:xfrm>
            <a:off x="4663440" y="1673352"/>
            <a:ext cx="169164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Letta</a:t>
            </a:r>
            <a:endParaRPr lang="en-US" sz="1600" dirty="0"/>
          </a:p>
        </p:txBody>
      </p:sp>
      <p:sp>
        <p:nvSpPr>
          <p:cNvPr id="28" name="Text 26"/>
          <p:cNvSpPr/>
          <p:nvPr/>
        </p:nvSpPr>
        <p:spPr>
          <a:xfrm>
            <a:off x="4663440" y="2039112"/>
            <a:ext cx="1691640" cy="4114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#1 on Terminal-Bench (Letta Code)</a:t>
            </a:r>
            <a:endParaRPr lang="en-US" sz="900" dirty="0"/>
          </a:p>
        </p:txBody>
      </p:sp>
      <p:sp>
        <p:nvSpPr>
          <p:cNvPr id="29" name="Text 27"/>
          <p:cNvSpPr/>
          <p:nvPr/>
        </p:nvSpPr>
        <p:spPr>
          <a:xfrm>
            <a:off x="4663440" y="2496312"/>
            <a:ext cx="1691640" cy="182880"/>
          </a:xfrm>
          <a:prstGeom prst="rect">
            <a:avLst/>
          </a:prstGeom>
          <a:noFill/>
          <a:ln/>
        </p:spPr>
        <p:txBody>
          <a:bodyPr wrap="square" lIns="0" tIns="0" rIns="0" bIns="0" rtlCol="0" anchor="ctr"/>
          <a:lstStyle/>
          <a:p>
            <a:pPr indent="0" marL="0">
              <a:buNone/>
            </a:pPr>
            <a:r>
              <a:rPr lang="en-US" sz="800" b="1" spc="200" kern="0" dirty="0">
                <a:solidFill>
                  <a:srgbClr val="4F46E5"/>
                </a:solidFill>
                <a:latin typeface="Calibri" pitchFamily="34" charset="0"/>
                <a:ea typeface="Calibri" pitchFamily="34" charset="-122"/>
                <a:cs typeface="Calibri" pitchFamily="34" charset="-120"/>
              </a:rPr>
              <a:t>Pricing</a:t>
            </a:r>
            <a:endParaRPr lang="en-US" sz="800" dirty="0"/>
          </a:p>
        </p:txBody>
      </p:sp>
      <p:sp>
        <p:nvSpPr>
          <p:cNvPr id="30" name="Text 28"/>
          <p:cNvSpPr/>
          <p:nvPr/>
        </p:nvSpPr>
        <p:spPr>
          <a:xfrm>
            <a:off x="4663440" y="2679192"/>
            <a:ext cx="1691640" cy="22860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Free · $20+/mo</a:t>
            </a:r>
            <a:endParaRPr lang="en-US" sz="950" dirty="0"/>
          </a:p>
        </p:txBody>
      </p:sp>
      <p:sp>
        <p:nvSpPr>
          <p:cNvPr id="31" name="Text 29"/>
          <p:cNvSpPr/>
          <p:nvPr/>
        </p:nvSpPr>
        <p:spPr>
          <a:xfrm>
            <a:off x="4663440" y="2926080"/>
            <a:ext cx="1691640" cy="182880"/>
          </a:xfrm>
          <a:prstGeom prst="rect">
            <a:avLst/>
          </a:prstGeom>
          <a:noFill/>
          <a:ln/>
        </p:spPr>
        <p:txBody>
          <a:bodyPr wrap="square" lIns="0" tIns="0" rIns="0" bIns="0" rtlCol="0" anchor="ctr"/>
          <a:lstStyle/>
          <a:p>
            <a:pPr indent="0" marL="0">
              <a:buNone/>
            </a:pPr>
            <a:r>
              <a:rPr lang="en-US" sz="800" b="1" spc="200" kern="0" dirty="0">
                <a:solidFill>
                  <a:srgbClr val="10B981"/>
                </a:solidFill>
                <a:latin typeface="Calibri" pitchFamily="34" charset="0"/>
                <a:ea typeface="Calibri" pitchFamily="34" charset="-122"/>
                <a:cs typeface="Calibri" pitchFamily="34" charset="-120"/>
              </a:rPr>
              <a:t>Edge</a:t>
            </a:r>
            <a:endParaRPr lang="en-US" sz="800" dirty="0"/>
          </a:p>
        </p:txBody>
      </p:sp>
      <p:sp>
        <p:nvSpPr>
          <p:cNvPr id="32" name="Text 30"/>
          <p:cNvSpPr/>
          <p:nvPr/>
        </p:nvSpPr>
        <p:spPr>
          <a:xfrm>
            <a:off x="4663440" y="3099816"/>
            <a:ext cx="1691640" cy="3200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MemGPT 3-tier OS-style memory</a:t>
            </a:r>
            <a:endParaRPr lang="en-US" sz="950" dirty="0"/>
          </a:p>
        </p:txBody>
      </p:sp>
      <p:sp>
        <p:nvSpPr>
          <p:cNvPr id="33" name="Text 31"/>
          <p:cNvSpPr/>
          <p:nvPr/>
        </p:nvSpPr>
        <p:spPr>
          <a:xfrm>
            <a:off x="4663440" y="3383280"/>
            <a:ext cx="1691640" cy="182880"/>
          </a:xfrm>
          <a:prstGeom prst="rect">
            <a:avLst/>
          </a:prstGeom>
          <a:noFill/>
          <a:ln/>
        </p:spPr>
        <p:txBody>
          <a:bodyPr wrap="square" lIns="0" tIns="0" rIns="0" bIns="0" rtlCol="0" anchor="ctr"/>
          <a:lstStyle/>
          <a:p>
            <a:pPr indent="0" marL="0">
              <a:buNone/>
            </a:pPr>
            <a:r>
              <a:rPr lang="en-US" sz="800" b="1" spc="200" kern="0" dirty="0">
                <a:solidFill>
                  <a:srgbClr val="EF4444"/>
                </a:solidFill>
                <a:latin typeface="Calibri" pitchFamily="34" charset="0"/>
                <a:ea typeface="Calibri" pitchFamily="34" charset="-122"/>
                <a:cs typeface="Calibri" pitchFamily="34" charset="-120"/>
              </a:rPr>
              <a:t>Watch</a:t>
            </a:r>
            <a:endParaRPr lang="en-US" sz="800" dirty="0"/>
          </a:p>
        </p:txBody>
      </p:sp>
      <p:sp>
        <p:nvSpPr>
          <p:cNvPr id="34" name="Text 32"/>
          <p:cNvSpPr/>
          <p:nvPr/>
        </p:nvSpPr>
        <p:spPr>
          <a:xfrm>
            <a:off x="4663440" y="3557016"/>
            <a:ext cx="1691640" cy="27432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Framework-shaped, not turnkey</a:t>
            </a:r>
            <a:endParaRPr lang="en-US" sz="950" dirty="0"/>
          </a:p>
        </p:txBody>
      </p:sp>
      <p:sp>
        <p:nvSpPr>
          <p:cNvPr id="35" name="Shape 33"/>
          <p:cNvSpPr/>
          <p:nvPr/>
        </p:nvSpPr>
        <p:spPr>
          <a:xfrm>
            <a:off x="6629400" y="1508760"/>
            <a:ext cx="1874520" cy="2286000"/>
          </a:xfrm>
          <a:prstGeom prst="rect">
            <a:avLst/>
          </a:prstGeom>
          <a:solidFill>
            <a:srgbClr val="F8FAFC"/>
          </a:solidFill>
          <a:ln w="6350">
            <a:solidFill>
              <a:srgbClr val="E2E8F0"/>
            </a:solidFill>
            <a:prstDash val="solid"/>
          </a:ln>
          <a:effectLst>
            <a:outerShdw sx="100000" sy="100000" kx="0" ky="0" algn="bl" rotWithShape="0" blurRad="101600" dist="25400" dir="5400000">
              <a:srgbClr val="000000">
                <a:alpha val="8000"/>
              </a:srgbClr>
            </a:outerShdw>
          </a:effectLst>
        </p:spPr>
      </p:sp>
      <p:sp>
        <p:nvSpPr>
          <p:cNvPr id="36" name="Shape 34"/>
          <p:cNvSpPr/>
          <p:nvPr/>
        </p:nvSpPr>
        <p:spPr>
          <a:xfrm>
            <a:off x="6629400" y="1508760"/>
            <a:ext cx="1874520" cy="73152"/>
          </a:xfrm>
          <a:prstGeom prst="rect">
            <a:avLst/>
          </a:prstGeom>
          <a:solidFill>
            <a:srgbClr val="EF4444"/>
          </a:solidFill>
          <a:ln/>
        </p:spPr>
      </p:sp>
      <p:sp>
        <p:nvSpPr>
          <p:cNvPr id="37" name="Text 35"/>
          <p:cNvSpPr/>
          <p:nvPr/>
        </p:nvSpPr>
        <p:spPr>
          <a:xfrm>
            <a:off x="6720840" y="1673352"/>
            <a:ext cx="169164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Cognee</a:t>
            </a:r>
            <a:endParaRPr lang="en-US" sz="1600" dirty="0"/>
          </a:p>
        </p:txBody>
      </p:sp>
      <p:sp>
        <p:nvSpPr>
          <p:cNvPr id="38" name="Text 36"/>
          <p:cNvSpPr/>
          <p:nvPr/>
        </p:nvSpPr>
        <p:spPr>
          <a:xfrm>
            <a:off x="6720840" y="2039112"/>
            <a:ext cx="1691640" cy="4114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$7.5M seed Apr 2026 · 38+ sources</a:t>
            </a:r>
            <a:endParaRPr lang="en-US" sz="900" dirty="0"/>
          </a:p>
        </p:txBody>
      </p:sp>
      <p:sp>
        <p:nvSpPr>
          <p:cNvPr id="39" name="Text 37"/>
          <p:cNvSpPr/>
          <p:nvPr/>
        </p:nvSpPr>
        <p:spPr>
          <a:xfrm>
            <a:off x="6720840" y="2496312"/>
            <a:ext cx="1691640" cy="182880"/>
          </a:xfrm>
          <a:prstGeom prst="rect">
            <a:avLst/>
          </a:prstGeom>
          <a:noFill/>
          <a:ln/>
        </p:spPr>
        <p:txBody>
          <a:bodyPr wrap="square" lIns="0" tIns="0" rIns="0" bIns="0" rtlCol="0" anchor="ctr"/>
          <a:lstStyle/>
          <a:p>
            <a:pPr indent="0" marL="0">
              <a:buNone/>
            </a:pPr>
            <a:r>
              <a:rPr lang="en-US" sz="800" b="1" spc="200" kern="0" dirty="0">
                <a:solidFill>
                  <a:srgbClr val="4F46E5"/>
                </a:solidFill>
                <a:latin typeface="Calibri" pitchFamily="34" charset="0"/>
                <a:ea typeface="Calibri" pitchFamily="34" charset="-122"/>
                <a:cs typeface="Calibri" pitchFamily="34" charset="-120"/>
              </a:rPr>
              <a:t>Pricing</a:t>
            </a:r>
            <a:endParaRPr lang="en-US" sz="800" dirty="0"/>
          </a:p>
        </p:txBody>
      </p:sp>
      <p:sp>
        <p:nvSpPr>
          <p:cNvPr id="40" name="Text 38"/>
          <p:cNvSpPr/>
          <p:nvPr/>
        </p:nvSpPr>
        <p:spPr>
          <a:xfrm>
            <a:off x="6720840" y="2679192"/>
            <a:ext cx="1691640" cy="22860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TBD · OSS available</a:t>
            </a:r>
            <a:endParaRPr lang="en-US" sz="950" dirty="0"/>
          </a:p>
        </p:txBody>
      </p:sp>
      <p:sp>
        <p:nvSpPr>
          <p:cNvPr id="41" name="Text 39"/>
          <p:cNvSpPr/>
          <p:nvPr/>
        </p:nvSpPr>
        <p:spPr>
          <a:xfrm>
            <a:off x="6720840" y="2926080"/>
            <a:ext cx="1691640" cy="182880"/>
          </a:xfrm>
          <a:prstGeom prst="rect">
            <a:avLst/>
          </a:prstGeom>
          <a:noFill/>
          <a:ln/>
        </p:spPr>
        <p:txBody>
          <a:bodyPr wrap="square" lIns="0" tIns="0" rIns="0" bIns="0" rtlCol="0" anchor="ctr"/>
          <a:lstStyle/>
          <a:p>
            <a:pPr indent="0" marL="0">
              <a:buNone/>
            </a:pPr>
            <a:r>
              <a:rPr lang="en-US" sz="800" b="1" spc="200" kern="0" dirty="0">
                <a:solidFill>
                  <a:srgbClr val="10B981"/>
                </a:solidFill>
                <a:latin typeface="Calibri" pitchFamily="34" charset="0"/>
                <a:ea typeface="Calibri" pitchFamily="34" charset="-122"/>
                <a:cs typeface="Calibri" pitchFamily="34" charset="-120"/>
              </a:rPr>
              <a:t>Edge</a:t>
            </a:r>
            <a:endParaRPr lang="en-US" sz="800" dirty="0"/>
          </a:p>
        </p:txBody>
      </p:sp>
      <p:sp>
        <p:nvSpPr>
          <p:cNvPr id="42" name="Text 40"/>
          <p:cNvSpPr/>
          <p:nvPr/>
        </p:nvSpPr>
        <p:spPr>
          <a:xfrm>
            <a:off x="6720840" y="3099816"/>
            <a:ext cx="1691640" cy="3200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Graph-native + MCP-native</a:t>
            </a:r>
            <a:endParaRPr lang="en-US" sz="950" dirty="0"/>
          </a:p>
        </p:txBody>
      </p:sp>
      <p:sp>
        <p:nvSpPr>
          <p:cNvPr id="43" name="Text 41"/>
          <p:cNvSpPr/>
          <p:nvPr/>
        </p:nvSpPr>
        <p:spPr>
          <a:xfrm>
            <a:off x="6720840" y="3383280"/>
            <a:ext cx="1691640" cy="182880"/>
          </a:xfrm>
          <a:prstGeom prst="rect">
            <a:avLst/>
          </a:prstGeom>
          <a:noFill/>
          <a:ln/>
        </p:spPr>
        <p:txBody>
          <a:bodyPr wrap="square" lIns="0" tIns="0" rIns="0" bIns="0" rtlCol="0" anchor="ctr"/>
          <a:lstStyle/>
          <a:p>
            <a:pPr indent="0" marL="0">
              <a:buNone/>
            </a:pPr>
            <a:r>
              <a:rPr lang="en-US" sz="800" b="1" spc="200" kern="0" dirty="0">
                <a:solidFill>
                  <a:srgbClr val="EF4444"/>
                </a:solidFill>
                <a:latin typeface="Calibri" pitchFamily="34" charset="0"/>
                <a:ea typeface="Calibri" pitchFamily="34" charset="-122"/>
                <a:cs typeface="Calibri" pitchFamily="34" charset="-120"/>
              </a:rPr>
              <a:t>Watch</a:t>
            </a:r>
            <a:endParaRPr lang="en-US" sz="800" dirty="0"/>
          </a:p>
        </p:txBody>
      </p:sp>
      <p:sp>
        <p:nvSpPr>
          <p:cNvPr id="44" name="Text 42"/>
          <p:cNvSpPr/>
          <p:nvPr/>
        </p:nvSpPr>
        <p:spPr>
          <a:xfrm>
            <a:off x="6720840" y="3557016"/>
            <a:ext cx="1691640" cy="27432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Hosted-first · no workspaces</a:t>
            </a:r>
            <a:endParaRPr lang="en-US" sz="950" dirty="0"/>
          </a:p>
        </p:txBody>
      </p:sp>
      <p:sp>
        <p:nvSpPr>
          <p:cNvPr id="45" name="Shape 43"/>
          <p:cNvSpPr/>
          <p:nvPr/>
        </p:nvSpPr>
        <p:spPr>
          <a:xfrm>
            <a:off x="457200" y="3977640"/>
            <a:ext cx="8229600" cy="777240"/>
          </a:xfrm>
          <a:prstGeom prst="rect">
            <a:avLst/>
          </a:prstGeom>
          <a:solidFill>
            <a:srgbClr val="FEF3C7"/>
          </a:solidFill>
          <a:ln/>
        </p:spPr>
      </p:sp>
      <p:pic>
        <p:nvPicPr>
          <p:cNvPr id="46" name="Image 0" descr="preencoded.png">    </p:cNvPr>
          <p:cNvPicPr>
            <a:picLocks noChangeAspect="1"/>
          </p:cNvPicPr>
          <p:nvPr/>
        </p:nvPicPr>
        <p:blipFill>
          <a:blip r:embed="rId1"/>
          <a:stretch>
            <a:fillRect/>
          </a:stretch>
        </p:blipFill>
        <p:spPr>
          <a:xfrm>
            <a:off x="640080" y="4114800"/>
            <a:ext cx="365760" cy="365760"/>
          </a:xfrm>
          <a:prstGeom prst="rect">
            <a:avLst/>
          </a:prstGeom>
        </p:spPr>
      </p:pic>
      <p:sp>
        <p:nvSpPr>
          <p:cNvPr id="47" name="Text 44"/>
          <p:cNvSpPr/>
          <p:nvPr/>
        </p:nvSpPr>
        <p:spPr>
          <a:xfrm>
            <a:off x="1097280" y="4023360"/>
            <a:ext cx="73152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Cognee is the architecturally closest competitor</a:t>
            </a:r>
            <a:endParaRPr lang="en-US" sz="1200" dirty="0"/>
          </a:p>
        </p:txBody>
      </p:sp>
      <p:sp>
        <p:nvSpPr>
          <p:cNvPr id="48" name="Text 45"/>
          <p:cNvSpPr/>
          <p:nvPr/>
        </p:nvSpPr>
        <p:spPr>
          <a:xfrm>
            <a:off x="1097280" y="4297680"/>
            <a:ext cx="7315200" cy="4572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Both ingest, graph, MCP, feed agents. If Cognee ships workspaces + on-prem first-class, the wedge collapses.</a:t>
            </a:r>
            <a:endParaRPr lang="en-US" sz="1000" dirty="0"/>
          </a:p>
        </p:txBody>
      </p:sp>
      <p:sp>
        <p:nvSpPr>
          <p:cNvPr id="49" name="Text 46"/>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15</a:t>
            </a:r>
            <a:endParaRPr lang="en-US" sz="900" dirty="0"/>
          </a:p>
        </p:txBody>
      </p:sp>
      <p:sp>
        <p:nvSpPr>
          <p:cNvPr id="50" name="Text 47"/>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05 — AI memory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lIns="0" tIns="0" rIns="0" bIns="0" rtlCol="0" anchor="ctr"/>
          <a:lstStyle/>
          <a:p>
            <a:pPr indent="0" marL="0">
              <a:buNone/>
            </a:pPr>
            <a:r>
              <a:rPr lang="en-US" sz="1000" b="1" spc="600" kern="0" dirty="0">
                <a:solidFill>
                  <a:srgbClr val="4F46E5"/>
                </a:solidFill>
                <a:latin typeface="Calibri" pitchFamily="34" charset="0"/>
                <a:ea typeface="Calibri" pitchFamily="34" charset="-122"/>
                <a:cs typeface="Calibri" pitchFamily="34" charset="-120"/>
              </a:rPr>
              <a:t>Segments 3 &amp; 4</a:t>
            </a:r>
            <a:endParaRPr lang="en-US" sz="10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Personal PKM &amp; consumer AI memory</a:t>
            </a:r>
            <a:endParaRPr lang="en-US" sz="2600" dirty="0"/>
          </a:p>
        </p:txBody>
      </p:sp>
      <p:sp>
        <p:nvSpPr>
          <p:cNvPr id="4" name="Shape 2"/>
          <p:cNvSpPr/>
          <p:nvPr/>
        </p:nvSpPr>
        <p:spPr>
          <a:xfrm>
            <a:off x="457200" y="1234440"/>
            <a:ext cx="4023360" cy="3383280"/>
          </a:xfrm>
          <a:prstGeom prst="rect">
            <a:avLst/>
          </a:prstGeom>
          <a:solidFill>
            <a:srgbClr val="F8FAFC"/>
          </a:solidFill>
          <a:ln w="6350">
            <a:solidFill>
              <a:srgbClr val="E2E8F0"/>
            </a:solidFill>
            <a:prstDash val="solid"/>
          </a:ln>
        </p:spPr>
      </p:sp>
      <p:sp>
        <p:nvSpPr>
          <p:cNvPr id="5" name="Shape 3"/>
          <p:cNvSpPr/>
          <p:nvPr/>
        </p:nvSpPr>
        <p:spPr>
          <a:xfrm>
            <a:off x="457200" y="1234440"/>
            <a:ext cx="4023360" cy="365760"/>
          </a:xfrm>
          <a:prstGeom prst="rect">
            <a:avLst/>
          </a:prstGeom>
          <a:solidFill>
            <a:srgbClr val="4F46E5"/>
          </a:solidFill>
          <a:ln/>
        </p:spPr>
      </p:sp>
      <p:pic>
        <p:nvPicPr>
          <p:cNvPr id="6" name="Image 0" descr="preencoded.png">    </p:cNvPr>
          <p:cNvPicPr>
            <a:picLocks noChangeAspect="1"/>
          </p:cNvPicPr>
          <p:nvPr/>
        </p:nvPicPr>
        <p:blipFill>
          <a:blip r:embed="rId1"/>
          <a:stretch>
            <a:fillRect/>
          </a:stretch>
        </p:blipFill>
        <p:spPr>
          <a:xfrm>
            <a:off x="594360" y="1298448"/>
            <a:ext cx="246888" cy="246888"/>
          </a:xfrm>
          <a:prstGeom prst="rect">
            <a:avLst/>
          </a:prstGeom>
        </p:spPr>
      </p:pic>
      <p:sp>
        <p:nvSpPr>
          <p:cNvPr id="7" name="Text 4"/>
          <p:cNvSpPr/>
          <p:nvPr/>
        </p:nvSpPr>
        <p:spPr>
          <a:xfrm>
            <a:off x="914400" y="1234440"/>
            <a:ext cx="3474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Personal PKM with AI</a:t>
            </a:r>
            <a:endParaRPr lang="en-US" sz="1300" dirty="0"/>
          </a:p>
        </p:txBody>
      </p:sp>
      <p:sp>
        <p:nvSpPr>
          <p:cNvPr id="8" name="Text 5"/>
          <p:cNvSpPr/>
          <p:nvPr/>
        </p:nvSpPr>
        <p:spPr>
          <a:xfrm>
            <a:off x="640080" y="178308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Mem.ai</a:t>
            </a:r>
            <a:endParaRPr lang="en-US" sz="1200" dirty="0"/>
          </a:p>
        </p:txBody>
      </p:sp>
      <p:sp>
        <p:nvSpPr>
          <p:cNvPr id="9" name="Text 6"/>
          <p:cNvSpPr/>
          <p:nvPr/>
        </p:nvSpPr>
        <p:spPr>
          <a:xfrm>
            <a:off x="640080" y="202996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Cloud SaaS · $10-15/mo · easy onboarding · weak source ingestion</a:t>
            </a:r>
            <a:endParaRPr lang="en-US" sz="950" dirty="0"/>
          </a:p>
        </p:txBody>
      </p:sp>
      <p:sp>
        <p:nvSpPr>
          <p:cNvPr id="10" name="Text 7"/>
          <p:cNvSpPr/>
          <p:nvPr/>
        </p:nvSpPr>
        <p:spPr>
          <a:xfrm>
            <a:off x="640080" y="237744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Reor</a:t>
            </a:r>
            <a:endParaRPr lang="en-US" sz="1200" dirty="0"/>
          </a:p>
        </p:txBody>
      </p:sp>
      <p:sp>
        <p:nvSpPr>
          <p:cNvPr id="11" name="Text 8"/>
          <p:cNvSpPr/>
          <p:nvPr/>
        </p:nvSpPr>
        <p:spPr>
          <a:xfrm>
            <a:off x="640080" y="262432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Local OSS · Ollama · stale (~10 months no update)</a:t>
            </a:r>
            <a:endParaRPr lang="en-US" sz="950" dirty="0"/>
          </a:p>
        </p:txBody>
      </p:sp>
      <p:sp>
        <p:nvSpPr>
          <p:cNvPr id="12" name="Text 9"/>
          <p:cNvSpPr/>
          <p:nvPr/>
        </p:nvSpPr>
        <p:spPr>
          <a:xfrm>
            <a:off x="640080" y="297180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Obsidian + plugins</a:t>
            </a:r>
            <a:endParaRPr lang="en-US" sz="1200" dirty="0"/>
          </a:p>
        </p:txBody>
      </p:sp>
      <p:sp>
        <p:nvSpPr>
          <p:cNvPr id="13" name="Text 10"/>
          <p:cNvSpPr/>
          <p:nvPr/>
        </p:nvSpPr>
        <p:spPr>
          <a:xfrm>
            <a:off x="640080" y="321868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Massive ecosystem · fragmented · plugin chaos for AI</a:t>
            </a:r>
            <a:endParaRPr lang="en-US" sz="950" dirty="0"/>
          </a:p>
        </p:txBody>
      </p:sp>
      <p:sp>
        <p:nvSpPr>
          <p:cNvPr id="14" name="Text 11"/>
          <p:cNvSpPr/>
          <p:nvPr/>
        </p:nvSpPr>
        <p:spPr>
          <a:xfrm>
            <a:off x="640080" y="356616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Notion (personal)</a:t>
            </a:r>
            <a:endParaRPr lang="en-US" sz="1200" dirty="0"/>
          </a:p>
        </p:txBody>
      </p:sp>
      <p:sp>
        <p:nvSpPr>
          <p:cNvPr id="15" name="Text 12"/>
          <p:cNvSpPr/>
          <p:nvPr/>
        </p:nvSpPr>
        <p:spPr>
          <a:xfrm>
            <a:off x="640080" y="381304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Q&amp;A inside Notion-owned content only</a:t>
            </a:r>
            <a:endParaRPr lang="en-US" sz="950" dirty="0"/>
          </a:p>
        </p:txBody>
      </p:sp>
      <p:sp>
        <p:nvSpPr>
          <p:cNvPr id="16" name="Shape 13"/>
          <p:cNvSpPr/>
          <p:nvPr/>
        </p:nvSpPr>
        <p:spPr>
          <a:xfrm>
            <a:off x="457200" y="4251960"/>
            <a:ext cx="4023360" cy="365760"/>
          </a:xfrm>
          <a:prstGeom prst="rect">
            <a:avLst/>
          </a:prstGeom>
          <a:solidFill>
            <a:srgbClr val="EEF2FF"/>
          </a:solidFill>
          <a:ln/>
        </p:spPr>
      </p:sp>
      <p:sp>
        <p:nvSpPr>
          <p:cNvPr id="17" name="Text 14"/>
          <p:cNvSpPr/>
          <p:nvPr/>
        </p:nvSpPr>
        <p:spPr>
          <a:xfrm>
            <a:off x="640080" y="4251960"/>
            <a:ext cx="3657600" cy="365760"/>
          </a:xfrm>
          <a:prstGeom prst="rect">
            <a:avLst/>
          </a:prstGeom>
          <a:noFill/>
          <a:ln/>
        </p:spPr>
        <p:txBody>
          <a:bodyPr wrap="square" lIns="0" tIns="0" rIns="0" bIns="0" rtlCol="0" anchor="ctr"/>
          <a:lstStyle/>
          <a:p>
            <a:pPr indent="0" marL="0">
              <a:buNone/>
            </a:pPr>
            <a:r>
              <a:rPr lang="en-US" sz="1000" i="1" dirty="0">
                <a:solidFill>
                  <a:srgbClr val="4F46E5"/>
                </a:solidFill>
                <a:latin typeface="Calibri" pitchFamily="34" charset="0"/>
                <a:ea typeface="Calibri" pitchFamily="34" charset="-122"/>
                <a:cs typeface="Calibri" pitchFamily="34" charset="-120"/>
              </a:rPr>
              <a:t>Cortex is what 'Obsidian + 6 plugins' is trying to be — unified.</a:t>
            </a:r>
            <a:endParaRPr lang="en-US" sz="1000" dirty="0"/>
          </a:p>
        </p:txBody>
      </p:sp>
      <p:sp>
        <p:nvSpPr>
          <p:cNvPr id="18" name="Shape 15"/>
          <p:cNvSpPr/>
          <p:nvPr/>
        </p:nvSpPr>
        <p:spPr>
          <a:xfrm>
            <a:off x="4663440" y="1234440"/>
            <a:ext cx="4023360" cy="3383280"/>
          </a:xfrm>
          <a:prstGeom prst="rect">
            <a:avLst/>
          </a:prstGeom>
          <a:solidFill>
            <a:srgbClr val="F8FAFC"/>
          </a:solidFill>
          <a:ln w="6350">
            <a:solidFill>
              <a:srgbClr val="E2E8F0"/>
            </a:solidFill>
            <a:prstDash val="solid"/>
          </a:ln>
        </p:spPr>
      </p:sp>
      <p:sp>
        <p:nvSpPr>
          <p:cNvPr id="19" name="Shape 16"/>
          <p:cNvSpPr/>
          <p:nvPr/>
        </p:nvSpPr>
        <p:spPr>
          <a:xfrm>
            <a:off x="4663440" y="1234440"/>
            <a:ext cx="4023360" cy="365760"/>
          </a:xfrm>
          <a:prstGeom prst="rect">
            <a:avLst/>
          </a:prstGeom>
          <a:solidFill>
            <a:srgbClr val="0A1628"/>
          </a:solidFill>
          <a:ln/>
        </p:spPr>
      </p:sp>
      <p:pic>
        <p:nvPicPr>
          <p:cNvPr id="20" name="Image 1" descr="preencoded.png">    </p:cNvPr>
          <p:cNvPicPr>
            <a:picLocks noChangeAspect="1"/>
          </p:cNvPicPr>
          <p:nvPr/>
        </p:nvPicPr>
        <p:blipFill>
          <a:blip r:embed="rId2"/>
          <a:stretch>
            <a:fillRect/>
          </a:stretch>
        </p:blipFill>
        <p:spPr>
          <a:xfrm>
            <a:off x="4800600" y="1298448"/>
            <a:ext cx="246888" cy="246888"/>
          </a:xfrm>
          <a:prstGeom prst="rect">
            <a:avLst/>
          </a:prstGeom>
        </p:spPr>
      </p:pic>
      <p:sp>
        <p:nvSpPr>
          <p:cNvPr id="21" name="Text 17"/>
          <p:cNvSpPr/>
          <p:nvPr/>
        </p:nvSpPr>
        <p:spPr>
          <a:xfrm>
            <a:off x="5120640" y="1234440"/>
            <a:ext cx="3474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Consumer AI w/ memory</a:t>
            </a:r>
            <a:endParaRPr lang="en-US" sz="1300" dirty="0"/>
          </a:p>
        </p:txBody>
      </p:sp>
      <p:sp>
        <p:nvSpPr>
          <p:cNvPr id="22" name="Text 18"/>
          <p:cNvSpPr/>
          <p:nvPr/>
        </p:nvSpPr>
        <p:spPr>
          <a:xfrm>
            <a:off x="4846320" y="178308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ChatGPT Memory</a:t>
            </a:r>
            <a:endParaRPr lang="en-US" sz="1200" dirty="0"/>
          </a:p>
        </p:txBody>
      </p:sp>
      <p:sp>
        <p:nvSpPr>
          <p:cNvPr id="23" name="Text 19"/>
          <p:cNvSpPr/>
          <p:nvPr/>
        </p:nvSpPr>
        <p:spPr>
          <a:xfrm>
            <a:off x="4846320" y="202996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Implicit ~40-80 facts · account-global</a:t>
            </a:r>
            <a:endParaRPr lang="en-US" sz="950" dirty="0"/>
          </a:p>
        </p:txBody>
      </p:sp>
      <p:sp>
        <p:nvSpPr>
          <p:cNvPr id="24" name="Text 20"/>
          <p:cNvSpPr/>
          <p:nvPr/>
        </p:nvSpPr>
        <p:spPr>
          <a:xfrm>
            <a:off x="4846320" y="237744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Claude Projects</a:t>
            </a:r>
            <a:endParaRPr lang="en-US" sz="1200" dirty="0"/>
          </a:p>
        </p:txBody>
      </p:sp>
      <p:sp>
        <p:nvSpPr>
          <p:cNvPr id="25" name="Text 21"/>
          <p:cNvSpPr/>
          <p:nvPr/>
        </p:nvSpPr>
        <p:spPr>
          <a:xfrm>
            <a:off x="4846320" y="262432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Per-project memory · MCP-native client · primary integration target</a:t>
            </a:r>
            <a:endParaRPr lang="en-US" sz="950" dirty="0"/>
          </a:p>
        </p:txBody>
      </p:sp>
      <p:sp>
        <p:nvSpPr>
          <p:cNvPr id="26" name="Text 22"/>
          <p:cNvSpPr/>
          <p:nvPr/>
        </p:nvSpPr>
        <p:spPr>
          <a:xfrm>
            <a:off x="4846320" y="297180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Gemini Memory</a:t>
            </a:r>
            <a:endParaRPr lang="en-US" sz="1200" dirty="0"/>
          </a:p>
        </p:txBody>
      </p:sp>
      <p:sp>
        <p:nvSpPr>
          <p:cNvPr id="27" name="Text 23"/>
          <p:cNvSpPr/>
          <p:nvPr/>
        </p:nvSpPr>
        <p:spPr>
          <a:xfrm>
            <a:off x="4846320" y="321868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Account-level · MCP support emerging</a:t>
            </a:r>
            <a:endParaRPr lang="en-US" sz="950" dirty="0"/>
          </a:p>
        </p:txBody>
      </p:sp>
      <p:sp>
        <p:nvSpPr>
          <p:cNvPr id="28" name="Text 24"/>
          <p:cNvSpPr/>
          <p:nvPr/>
        </p:nvSpPr>
        <p:spPr>
          <a:xfrm>
            <a:off x="4846320" y="3566160"/>
            <a:ext cx="36576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MS Copilot personal</a:t>
            </a:r>
            <a:endParaRPr lang="en-US" sz="1200" dirty="0"/>
          </a:p>
        </p:txBody>
      </p:sp>
      <p:sp>
        <p:nvSpPr>
          <p:cNvPr id="29" name="Text 25"/>
          <p:cNvSpPr/>
          <p:nvPr/>
        </p:nvSpPr>
        <p:spPr>
          <a:xfrm>
            <a:off x="4846320" y="3813048"/>
            <a:ext cx="3657600" cy="36576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Tenant-bound · conflicts only if M365-locked</a:t>
            </a:r>
            <a:endParaRPr lang="en-US" sz="950" dirty="0"/>
          </a:p>
        </p:txBody>
      </p:sp>
      <p:sp>
        <p:nvSpPr>
          <p:cNvPr id="30" name="Shape 26"/>
          <p:cNvSpPr/>
          <p:nvPr/>
        </p:nvSpPr>
        <p:spPr>
          <a:xfrm>
            <a:off x="4663440" y="4251960"/>
            <a:ext cx="4023360" cy="365760"/>
          </a:xfrm>
          <a:prstGeom prst="rect">
            <a:avLst/>
          </a:prstGeom>
          <a:solidFill>
            <a:srgbClr val="FEF3C7"/>
          </a:solidFill>
          <a:ln/>
        </p:spPr>
      </p:sp>
      <p:sp>
        <p:nvSpPr>
          <p:cNvPr id="31" name="Text 27"/>
          <p:cNvSpPr/>
          <p:nvPr/>
        </p:nvSpPr>
        <p:spPr>
          <a:xfrm>
            <a:off x="4846320" y="4251960"/>
            <a:ext cx="3657600" cy="365760"/>
          </a:xfrm>
          <a:prstGeom prst="rect">
            <a:avLst/>
          </a:prstGeom>
          <a:noFill/>
          <a:ln/>
        </p:spPr>
        <p:txBody>
          <a:bodyPr wrap="square" lIns="0" tIns="0" rIns="0" bIns="0"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Not competitors — distribution channels for Cortex.</a:t>
            </a:r>
            <a:endParaRPr lang="en-US" sz="1000" dirty="0"/>
          </a:p>
        </p:txBody>
      </p:sp>
      <p:sp>
        <p:nvSpPr>
          <p:cNvPr id="32" name="Text 28"/>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15</a:t>
            </a:r>
            <a:endParaRPr lang="en-US" sz="900" dirty="0"/>
          </a:p>
        </p:txBody>
      </p:sp>
      <p:sp>
        <p:nvSpPr>
          <p:cNvPr id="33" name="Text 29"/>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06 — PKM &amp; consumer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Differentiation</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Three pillars no one else combines</a:t>
            </a:r>
            <a:endParaRPr lang="en-US" sz="2800" dirty="0"/>
          </a:p>
        </p:txBody>
      </p:sp>
      <p:sp>
        <p:nvSpPr>
          <p:cNvPr id="4" name="Shape 2"/>
          <p:cNvSpPr/>
          <p:nvPr/>
        </p:nvSpPr>
        <p:spPr>
          <a:xfrm>
            <a:off x="457200" y="1417320"/>
            <a:ext cx="2606040" cy="3291840"/>
          </a:xfrm>
          <a:prstGeom prst="rect">
            <a:avLst/>
          </a:prstGeom>
          <a:solidFill>
            <a:srgbClr val="FFFFFF"/>
          </a:solidFill>
          <a:ln/>
        </p:spPr>
      </p:sp>
      <p:sp>
        <p:nvSpPr>
          <p:cNvPr id="5" name="Text 3"/>
          <p:cNvSpPr/>
          <p:nvPr/>
        </p:nvSpPr>
        <p:spPr>
          <a:xfrm>
            <a:off x="640080" y="1554480"/>
            <a:ext cx="914400" cy="548640"/>
          </a:xfrm>
          <a:prstGeom prst="rect">
            <a:avLst/>
          </a:prstGeom>
          <a:noFill/>
          <a:ln/>
        </p:spPr>
        <p:txBody>
          <a:bodyPr wrap="square" lIns="0" tIns="0" rIns="0" bIns="0" rtlCol="0" anchor="ctr"/>
          <a:lstStyle/>
          <a:p>
            <a:pPr indent="0" marL="0">
              <a:buNone/>
            </a:pPr>
            <a:r>
              <a:rPr lang="en-US" sz="3600" b="1" dirty="0">
                <a:solidFill>
                  <a:srgbClr val="F59E0B"/>
                </a:solidFill>
                <a:latin typeface="Calibri" pitchFamily="34" charset="0"/>
                <a:ea typeface="Calibri" pitchFamily="34" charset="-122"/>
                <a:cs typeface="Calibri" pitchFamily="34" charset="-120"/>
              </a:rPr>
              <a:t>01</a:t>
            </a:r>
            <a:endParaRPr lang="en-US" sz="3600" dirty="0"/>
          </a:p>
        </p:txBody>
      </p:sp>
      <p:pic>
        <p:nvPicPr>
          <p:cNvPr id="6" name="Image 0" descr="preencoded.png">    </p:cNvPr>
          <p:cNvPicPr>
            <a:picLocks noChangeAspect="1"/>
          </p:cNvPicPr>
          <p:nvPr/>
        </p:nvPicPr>
        <p:blipFill>
          <a:blip r:embed="rId1"/>
          <a:stretch>
            <a:fillRect/>
          </a:stretch>
        </p:blipFill>
        <p:spPr>
          <a:xfrm>
            <a:off x="2514600" y="1645920"/>
            <a:ext cx="365760" cy="365760"/>
          </a:xfrm>
          <a:prstGeom prst="rect">
            <a:avLst/>
          </a:prstGeom>
        </p:spPr>
      </p:pic>
      <p:sp>
        <p:nvSpPr>
          <p:cNvPr id="7" name="Text 4"/>
          <p:cNvSpPr/>
          <p:nvPr/>
        </p:nvSpPr>
        <p:spPr>
          <a:xfrm>
            <a:off x="640080" y="2240280"/>
            <a:ext cx="2286000" cy="6400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MCP-native architecture</a:t>
            </a:r>
            <a:endParaRPr lang="en-US" sz="1600" dirty="0"/>
          </a:p>
        </p:txBody>
      </p:sp>
      <p:sp>
        <p:nvSpPr>
          <p:cNvPr id="8" name="Shape 5"/>
          <p:cNvSpPr/>
          <p:nvPr/>
        </p:nvSpPr>
        <p:spPr>
          <a:xfrm>
            <a:off x="640080" y="2926080"/>
            <a:ext cx="548640" cy="36576"/>
          </a:xfrm>
          <a:prstGeom prst="rect">
            <a:avLst/>
          </a:prstGeom>
          <a:solidFill>
            <a:srgbClr val="4F46E5"/>
          </a:solidFill>
          <a:ln/>
        </p:spPr>
      </p:sp>
      <p:sp>
        <p:nvSpPr>
          <p:cNvPr id="9" name="Text 6"/>
          <p:cNvSpPr/>
          <p:nvPr/>
        </p:nvSpPr>
        <p:spPr>
          <a:xfrm>
            <a:off x="640080" y="3063240"/>
            <a:ext cx="2286000" cy="1554480"/>
          </a:xfrm>
          <a:prstGeom prst="rect">
            <a:avLst/>
          </a:prstGeom>
          <a:noFill/>
          <a:ln/>
        </p:spPr>
        <p:txBody>
          <a:bodyPr wrap="square" lIns="0" tIns="0" rIns="0" bIns="0" rtlCol="0" anchor="ctr"/>
          <a:lstStyle/>
          <a:p>
            <a:pPr indent="0" marL="0">
              <a:lnSpc>
                <a:spcPct val="125000"/>
              </a:lnSpc>
              <a:buNone/>
            </a:pPr>
            <a:r>
              <a:rPr lang="en-US" sz="1000" dirty="0">
                <a:solidFill>
                  <a:srgbClr val="64748B"/>
                </a:solidFill>
                <a:latin typeface="Calibri" pitchFamily="34" charset="0"/>
                <a:ea typeface="Calibri" pitchFamily="34" charset="-122"/>
                <a:cs typeface="Calibri" pitchFamily="34" charset="-120"/>
              </a:rPr>
              <a:t>Cortex was designed for MCP — not retrofitted. As OpenAI manifest 2.4, Anthropic, and Google all converge on MCP, Cortex inherits compounding optionality. Any MCP client (Claude Code, Desktop, Pyre) is a Cortex front-end.</a:t>
            </a:r>
            <a:endParaRPr lang="en-US" sz="1000" dirty="0"/>
          </a:p>
        </p:txBody>
      </p:sp>
      <p:sp>
        <p:nvSpPr>
          <p:cNvPr id="10" name="Shape 7"/>
          <p:cNvSpPr/>
          <p:nvPr/>
        </p:nvSpPr>
        <p:spPr>
          <a:xfrm>
            <a:off x="3291840" y="1417320"/>
            <a:ext cx="2606040" cy="3291840"/>
          </a:xfrm>
          <a:prstGeom prst="rect">
            <a:avLst/>
          </a:prstGeom>
          <a:solidFill>
            <a:srgbClr val="FFFFFF"/>
          </a:solidFill>
          <a:ln/>
        </p:spPr>
      </p:sp>
      <p:sp>
        <p:nvSpPr>
          <p:cNvPr id="11" name="Text 8"/>
          <p:cNvSpPr/>
          <p:nvPr/>
        </p:nvSpPr>
        <p:spPr>
          <a:xfrm>
            <a:off x="3474720" y="1554480"/>
            <a:ext cx="914400" cy="548640"/>
          </a:xfrm>
          <a:prstGeom prst="rect">
            <a:avLst/>
          </a:prstGeom>
          <a:noFill/>
          <a:ln/>
        </p:spPr>
        <p:txBody>
          <a:bodyPr wrap="square" lIns="0" tIns="0" rIns="0" bIns="0" rtlCol="0" anchor="ctr"/>
          <a:lstStyle/>
          <a:p>
            <a:pPr indent="0" marL="0">
              <a:buNone/>
            </a:pPr>
            <a:r>
              <a:rPr lang="en-US" sz="3600" b="1" dirty="0">
                <a:solidFill>
                  <a:srgbClr val="F59E0B"/>
                </a:solidFill>
                <a:latin typeface="Calibri" pitchFamily="34" charset="0"/>
                <a:ea typeface="Calibri" pitchFamily="34" charset="-122"/>
                <a:cs typeface="Calibri" pitchFamily="34" charset="-120"/>
              </a:rPr>
              <a:t>02</a:t>
            </a:r>
            <a:endParaRPr lang="en-US" sz="3600" dirty="0"/>
          </a:p>
        </p:txBody>
      </p:sp>
      <p:pic>
        <p:nvPicPr>
          <p:cNvPr id="12" name="Image 1" descr="preencoded.png">    </p:cNvPr>
          <p:cNvPicPr>
            <a:picLocks noChangeAspect="1"/>
          </p:cNvPicPr>
          <p:nvPr/>
        </p:nvPicPr>
        <p:blipFill>
          <a:blip r:embed="rId2"/>
          <a:stretch>
            <a:fillRect/>
          </a:stretch>
        </p:blipFill>
        <p:spPr>
          <a:xfrm>
            <a:off x="5349240" y="1645920"/>
            <a:ext cx="365760" cy="365760"/>
          </a:xfrm>
          <a:prstGeom prst="rect">
            <a:avLst/>
          </a:prstGeom>
        </p:spPr>
      </p:pic>
      <p:sp>
        <p:nvSpPr>
          <p:cNvPr id="13" name="Text 9"/>
          <p:cNvSpPr/>
          <p:nvPr/>
        </p:nvSpPr>
        <p:spPr>
          <a:xfrm>
            <a:off x="3474720" y="2240280"/>
            <a:ext cx="2286000" cy="6400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Data plane / compute plane split</a:t>
            </a:r>
            <a:endParaRPr lang="en-US" sz="1600" dirty="0"/>
          </a:p>
        </p:txBody>
      </p:sp>
      <p:sp>
        <p:nvSpPr>
          <p:cNvPr id="14" name="Shape 10"/>
          <p:cNvSpPr/>
          <p:nvPr/>
        </p:nvSpPr>
        <p:spPr>
          <a:xfrm>
            <a:off x="3474720" y="2926080"/>
            <a:ext cx="548640" cy="36576"/>
          </a:xfrm>
          <a:prstGeom prst="rect">
            <a:avLst/>
          </a:prstGeom>
          <a:solidFill>
            <a:srgbClr val="4F46E5"/>
          </a:solidFill>
          <a:ln/>
        </p:spPr>
      </p:sp>
      <p:sp>
        <p:nvSpPr>
          <p:cNvPr id="15" name="Text 11"/>
          <p:cNvSpPr/>
          <p:nvPr/>
        </p:nvSpPr>
        <p:spPr>
          <a:xfrm>
            <a:off x="3474720" y="3063240"/>
            <a:ext cx="2286000" cy="1554480"/>
          </a:xfrm>
          <a:prstGeom prst="rect">
            <a:avLst/>
          </a:prstGeom>
          <a:noFill/>
          <a:ln/>
        </p:spPr>
        <p:txBody>
          <a:bodyPr wrap="square" lIns="0" tIns="0" rIns="0" bIns="0" rtlCol="0" anchor="ctr"/>
          <a:lstStyle/>
          <a:p>
            <a:pPr indent="0" marL="0">
              <a:lnSpc>
                <a:spcPct val="125000"/>
              </a:lnSpc>
              <a:buNone/>
            </a:pPr>
            <a:r>
              <a:rPr lang="en-US" sz="1000" dirty="0">
                <a:solidFill>
                  <a:srgbClr val="64748B"/>
                </a:solidFill>
                <a:latin typeface="Calibri" pitchFamily="34" charset="0"/>
                <a:ea typeface="Calibri" pitchFamily="34" charset="-122"/>
                <a:cs typeface="Calibri" pitchFamily="34" charset="-120"/>
              </a:rPr>
              <a:t>Cortex Core runs with zero LLM. Enrichment is delegated to the connected MCP client via the Cortex Enrichment Protocol. Genuinely novel — no competitor ships this pattern. Operational floor: 'you have Claude Desktop, you have enrichment.'</a:t>
            </a:r>
            <a:endParaRPr lang="en-US" sz="1000" dirty="0"/>
          </a:p>
        </p:txBody>
      </p:sp>
      <p:sp>
        <p:nvSpPr>
          <p:cNvPr id="16" name="Shape 12"/>
          <p:cNvSpPr/>
          <p:nvPr/>
        </p:nvSpPr>
        <p:spPr>
          <a:xfrm>
            <a:off x="6126480" y="1417320"/>
            <a:ext cx="2606040" cy="3291840"/>
          </a:xfrm>
          <a:prstGeom prst="rect">
            <a:avLst/>
          </a:prstGeom>
          <a:solidFill>
            <a:srgbClr val="FFFFFF"/>
          </a:solidFill>
          <a:ln/>
        </p:spPr>
      </p:sp>
      <p:sp>
        <p:nvSpPr>
          <p:cNvPr id="17" name="Text 13"/>
          <p:cNvSpPr/>
          <p:nvPr/>
        </p:nvSpPr>
        <p:spPr>
          <a:xfrm>
            <a:off x="6309360" y="1554480"/>
            <a:ext cx="914400" cy="548640"/>
          </a:xfrm>
          <a:prstGeom prst="rect">
            <a:avLst/>
          </a:prstGeom>
          <a:noFill/>
          <a:ln/>
        </p:spPr>
        <p:txBody>
          <a:bodyPr wrap="square" lIns="0" tIns="0" rIns="0" bIns="0" rtlCol="0" anchor="ctr"/>
          <a:lstStyle/>
          <a:p>
            <a:pPr indent="0" marL="0">
              <a:buNone/>
            </a:pPr>
            <a:r>
              <a:rPr lang="en-US" sz="3600" b="1" dirty="0">
                <a:solidFill>
                  <a:srgbClr val="F59E0B"/>
                </a:solidFill>
                <a:latin typeface="Calibri" pitchFamily="34" charset="0"/>
                <a:ea typeface="Calibri" pitchFamily="34" charset="-122"/>
                <a:cs typeface="Calibri" pitchFamily="34" charset="-120"/>
              </a:rPr>
              <a:t>03</a:t>
            </a:r>
            <a:endParaRPr lang="en-US" sz="3600" dirty="0"/>
          </a:p>
        </p:txBody>
      </p:sp>
      <p:pic>
        <p:nvPicPr>
          <p:cNvPr id="18" name="Image 2" descr="preencoded.png">    </p:cNvPr>
          <p:cNvPicPr>
            <a:picLocks noChangeAspect="1"/>
          </p:cNvPicPr>
          <p:nvPr/>
        </p:nvPicPr>
        <p:blipFill>
          <a:blip r:embed="rId3"/>
          <a:stretch>
            <a:fillRect/>
          </a:stretch>
        </p:blipFill>
        <p:spPr>
          <a:xfrm>
            <a:off x="8183880" y="1645920"/>
            <a:ext cx="365760" cy="365760"/>
          </a:xfrm>
          <a:prstGeom prst="rect">
            <a:avLst/>
          </a:prstGeom>
        </p:spPr>
      </p:pic>
      <p:sp>
        <p:nvSpPr>
          <p:cNvPr id="19" name="Text 14"/>
          <p:cNvSpPr/>
          <p:nvPr/>
        </p:nvSpPr>
        <p:spPr>
          <a:xfrm>
            <a:off x="6309360" y="2240280"/>
            <a:ext cx="2286000" cy="6400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Self-hosted by default</a:t>
            </a:r>
            <a:endParaRPr lang="en-US" sz="1600" dirty="0"/>
          </a:p>
        </p:txBody>
      </p:sp>
      <p:sp>
        <p:nvSpPr>
          <p:cNvPr id="20" name="Shape 15"/>
          <p:cNvSpPr/>
          <p:nvPr/>
        </p:nvSpPr>
        <p:spPr>
          <a:xfrm>
            <a:off x="6309360" y="2926080"/>
            <a:ext cx="548640" cy="36576"/>
          </a:xfrm>
          <a:prstGeom prst="rect">
            <a:avLst/>
          </a:prstGeom>
          <a:solidFill>
            <a:srgbClr val="4F46E5"/>
          </a:solidFill>
          <a:ln/>
        </p:spPr>
      </p:sp>
      <p:sp>
        <p:nvSpPr>
          <p:cNvPr id="21" name="Text 16"/>
          <p:cNvSpPr/>
          <p:nvPr/>
        </p:nvSpPr>
        <p:spPr>
          <a:xfrm>
            <a:off x="6309360" y="3063240"/>
            <a:ext cx="2286000" cy="1554480"/>
          </a:xfrm>
          <a:prstGeom prst="rect">
            <a:avLst/>
          </a:prstGeom>
          <a:noFill/>
          <a:ln/>
        </p:spPr>
        <p:txBody>
          <a:bodyPr wrap="square" lIns="0" tIns="0" rIns="0" bIns="0" rtlCol="0" anchor="ctr"/>
          <a:lstStyle/>
          <a:p>
            <a:pPr indent="0" marL="0">
              <a:lnSpc>
                <a:spcPct val="125000"/>
              </a:lnSpc>
              <a:buNone/>
            </a:pPr>
            <a:r>
              <a:rPr lang="en-US" sz="1000" dirty="0">
                <a:solidFill>
                  <a:srgbClr val="64748B"/>
                </a:solidFill>
                <a:latin typeface="Calibri" pitchFamily="34" charset="0"/>
                <a:ea typeface="Calibri" pitchFamily="34" charset="-122"/>
                <a:cs typeface="Calibri" pitchFamily="34" charset="-120"/>
              </a:rPr>
              <a:t>Among 16 competitors, only Cortex (and unmaintained Reor) are truly local-first. Twelve adapters ingest on your hardware. Memory backend pluggable (Engram or Postgres+pgvector). No data egress. No SaaS contract. No vendor lock.</a:t>
            </a:r>
            <a:endParaRPr lang="en-US" sz="1000" dirty="0"/>
          </a:p>
        </p:txBody>
      </p:sp>
      <p:sp>
        <p:nvSpPr>
          <p:cNvPr id="22" name="Text 17"/>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15</a:t>
            </a:r>
            <a:endParaRPr lang="en-US" sz="900" dirty="0"/>
          </a:p>
        </p:txBody>
      </p:sp>
      <p:sp>
        <p:nvSpPr>
          <p:cNvPr id="23" name="Text 18"/>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07 — Differentiation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Strategic position</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SWOT — honest read</a:t>
            </a:r>
            <a:endParaRPr lang="en-US" sz="2800" dirty="0"/>
          </a:p>
        </p:txBody>
      </p:sp>
      <p:sp>
        <p:nvSpPr>
          <p:cNvPr id="4" name="Shape 2"/>
          <p:cNvSpPr/>
          <p:nvPr/>
        </p:nvSpPr>
        <p:spPr>
          <a:xfrm>
            <a:off x="457200" y="1371600"/>
            <a:ext cx="4069080" cy="1691640"/>
          </a:xfrm>
          <a:prstGeom prst="rect">
            <a:avLst/>
          </a:prstGeom>
          <a:solidFill>
            <a:srgbClr val="F8FAFC"/>
          </a:solidFill>
          <a:ln w="6350">
            <a:solidFill>
              <a:srgbClr val="E2E8F0"/>
            </a:solidFill>
            <a:prstDash val="solid"/>
          </a:ln>
        </p:spPr>
      </p:sp>
      <p:sp>
        <p:nvSpPr>
          <p:cNvPr id="5" name="Shape 3"/>
          <p:cNvSpPr/>
          <p:nvPr/>
        </p:nvSpPr>
        <p:spPr>
          <a:xfrm>
            <a:off x="457200" y="1371600"/>
            <a:ext cx="73152" cy="1691640"/>
          </a:xfrm>
          <a:prstGeom prst="rect">
            <a:avLst/>
          </a:prstGeom>
          <a:solidFill>
            <a:srgbClr val="10B981"/>
          </a:solidFill>
          <a:ln/>
        </p:spPr>
      </p:sp>
      <p:sp>
        <p:nvSpPr>
          <p:cNvPr id="6" name="Text 4"/>
          <p:cNvSpPr/>
          <p:nvPr/>
        </p:nvSpPr>
        <p:spPr>
          <a:xfrm>
            <a:off x="640080" y="1463040"/>
            <a:ext cx="3840480" cy="274320"/>
          </a:xfrm>
          <a:prstGeom prst="rect">
            <a:avLst/>
          </a:prstGeom>
          <a:noFill/>
          <a:ln/>
        </p:spPr>
        <p:txBody>
          <a:bodyPr wrap="square" lIns="0" tIns="0" rIns="0" bIns="0" rtlCol="0" anchor="ctr"/>
          <a:lstStyle/>
          <a:p>
            <a:pPr indent="0" marL="0">
              <a:buNone/>
            </a:pPr>
            <a:r>
              <a:rPr lang="en-US" sz="1100" b="1" spc="400" kern="0" dirty="0">
                <a:solidFill>
                  <a:srgbClr val="10B981"/>
                </a:solidFill>
                <a:latin typeface="Calibri" pitchFamily="34" charset="0"/>
                <a:ea typeface="Calibri" pitchFamily="34" charset="-122"/>
                <a:cs typeface="Calibri" pitchFamily="34" charset="-120"/>
              </a:rPr>
              <a:t>STRENGTHS</a:t>
            </a:r>
            <a:endParaRPr lang="en-US" sz="1100" dirty="0"/>
          </a:p>
        </p:txBody>
      </p:sp>
      <p:sp>
        <p:nvSpPr>
          <p:cNvPr id="7" name="Text 5"/>
          <p:cNvSpPr/>
          <p:nvPr/>
        </p:nvSpPr>
        <p:spPr>
          <a:xfrm>
            <a:off x="640080" y="1755648"/>
            <a:ext cx="3794760" cy="12801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MCP-native + composable architecture</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Self-hosted-by-default (unique among active competitors)</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Data-plane / compute-plane split — zero-LLM core</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12 adapters, 5 pipelines, ~30 MCP tools shipped</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Workspace isolation (multi-employer / side-project)</a:t>
            </a:r>
            <a:endParaRPr lang="en-US" sz="900" dirty="0"/>
          </a:p>
        </p:txBody>
      </p:sp>
      <p:sp>
        <p:nvSpPr>
          <p:cNvPr id="8" name="Shape 6"/>
          <p:cNvSpPr/>
          <p:nvPr/>
        </p:nvSpPr>
        <p:spPr>
          <a:xfrm>
            <a:off x="4617720" y="1371600"/>
            <a:ext cx="4069080" cy="1691640"/>
          </a:xfrm>
          <a:prstGeom prst="rect">
            <a:avLst/>
          </a:prstGeom>
          <a:solidFill>
            <a:srgbClr val="F8FAFC"/>
          </a:solidFill>
          <a:ln w="6350">
            <a:solidFill>
              <a:srgbClr val="E2E8F0"/>
            </a:solidFill>
            <a:prstDash val="solid"/>
          </a:ln>
        </p:spPr>
      </p:sp>
      <p:sp>
        <p:nvSpPr>
          <p:cNvPr id="9" name="Shape 7"/>
          <p:cNvSpPr/>
          <p:nvPr/>
        </p:nvSpPr>
        <p:spPr>
          <a:xfrm>
            <a:off x="4617720" y="1371600"/>
            <a:ext cx="73152" cy="1691640"/>
          </a:xfrm>
          <a:prstGeom prst="rect">
            <a:avLst/>
          </a:prstGeom>
          <a:solidFill>
            <a:srgbClr val="EF4444"/>
          </a:solidFill>
          <a:ln/>
        </p:spPr>
      </p:sp>
      <p:sp>
        <p:nvSpPr>
          <p:cNvPr id="10" name="Text 8"/>
          <p:cNvSpPr/>
          <p:nvPr/>
        </p:nvSpPr>
        <p:spPr>
          <a:xfrm>
            <a:off x="4800600" y="1463040"/>
            <a:ext cx="3840480" cy="274320"/>
          </a:xfrm>
          <a:prstGeom prst="rect">
            <a:avLst/>
          </a:prstGeom>
          <a:noFill/>
          <a:ln/>
        </p:spPr>
        <p:txBody>
          <a:bodyPr wrap="square" lIns="0" tIns="0" rIns="0" bIns="0" rtlCol="0" anchor="ctr"/>
          <a:lstStyle/>
          <a:p>
            <a:pPr indent="0" marL="0">
              <a:buNone/>
            </a:pPr>
            <a:r>
              <a:rPr lang="en-US" sz="1100" b="1" spc="400" kern="0" dirty="0">
                <a:solidFill>
                  <a:srgbClr val="EF4444"/>
                </a:solidFill>
                <a:latin typeface="Calibri" pitchFamily="34" charset="0"/>
                <a:ea typeface="Calibri" pitchFamily="34" charset="-122"/>
                <a:cs typeface="Calibri" pitchFamily="34" charset="-120"/>
              </a:rPr>
              <a:t>WEAKNESSES</a:t>
            </a:r>
            <a:endParaRPr lang="en-US" sz="1100" dirty="0"/>
          </a:p>
        </p:txBody>
      </p:sp>
      <p:sp>
        <p:nvSpPr>
          <p:cNvPr id="11" name="Text 9"/>
          <p:cNvSpPr/>
          <p:nvPr/>
        </p:nvSpPr>
        <p:spPr>
          <a:xfrm>
            <a:off x="4800600" y="1755648"/>
            <a:ext cx="3794760" cy="12801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No GTM, no marketing site, no distribution</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High setup friction (Node, Docker, Tailscale, YAML)</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No enterprise bundle (SSO, SOC 2, audit, admin)</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No team / multi-user — federation is ADR only</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Solo build · bus factor of one · no benchmark story</a:t>
            </a:r>
            <a:endParaRPr lang="en-US" sz="900" dirty="0"/>
          </a:p>
        </p:txBody>
      </p:sp>
      <p:sp>
        <p:nvSpPr>
          <p:cNvPr id="12" name="Shape 10"/>
          <p:cNvSpPr/>
          <p:nvPr/>
        </p:nvSpPr>
        <p:spPr>
          <a:xfrm>
            <a:off x="457200" y="3154680"/>
            <a:ext cx="4069080" cy="1691640"/>
          </a:xfrm>
          <a:prstGeom prst="rect">
            <a:avLst/>
          </a:prstGeom>
          <a:solidFill>
            <a:srgbClr val="F8FAFC"/>
          </a:solidFill>
          <a:ln w="6350">
            <a:solidFill>
              <a:srgbClr val="E2E8F0"/>
            </a:solidFill>
            <a:prstDash val="solid"/>
          </a:ln>
        </p:spPr>
      </p:sp>
      <p:sp>
        <p:nvSpPr>
          <p:cNvPr id="13" name="Shape 11"/>
          <p:cNvSpPr/>
          <p:nvPr/>
        </p:nvSpPr>
        <p:spPr>
          <a:xfrm>
            <a:off x="457200" y="3154680"/>
            <a:ext cx="73152" cy="1691640"/>
          </a:xfrm>
          <a:prstGeom prst="rect">
            <a:avLst/>
          </a:prstGeom>
          <a:solidFill>
            <a:srgbClr val="4F46E5"/>
          </a:solidFill>
          <a:ln/>
        </p:spPr>
      </p:sp>
      <p:sp>
        <p:nvSpPr>
          <p:cNvPr id="14" name="Text 12"/>
          <p:cNvSpPr/>
          <p:nvPr/>
        </p:nvSpPr>
        <p:spPr>
          <a:xfrm>
            <a:off x="640080" y="3246120"/>
            <a:ext cx="3840480" cy="274320"/>
          </a:xfrm>
          <a:prstGeom prst="rect">
            <a:avLst/>
          </a:prstGeom>
          <a:noFill/>
          <a:ln/>
        </p:spPr>
        <p:txBody>
          <a:bodyPr wrap="square" lIns="0" tIns="0" rIns="0" bIns="0" rtlCol="0" anchor="ctr"/>
          <a:lstStyle/>
          <a:p>
            <a:pPr indent="0" marL="0">
              <a:buNone/>
            </a:pPr>
            <a:r>
              <a:rPr lang="en-US" sz="1100" b="1" spc="400" kern="0" dirty="0">
                <a:solidFill>
                  <a:srgbClr val="4F46E5"/>
                </a:solidFill>
                <a:latin typeface="Calibri" pitchFamily="34" charset="0"/>
                <a:ea typeface="Calibri" pitchFamily="34" charset="-122"/>
                <a:cs typeface="Calibri" pitchFamily="34" charset="-120"/>
              </a:rPr>
              <a:t>OPPORTUNITIES</a:t>
            </a:r>
            <a:endParaRPr lang="en-US" sz="1100" dirty="0"/>
          </a:p>
        </p:txBody>
      </p:sp>
      <p:sp>
        <p:nvSpPr>
          <p:cNvPr id="15" name="Text 13"/>
          <p:cNvSpPr/>
          <p:nvPr/>
        </p:nvSpPr>
        <p:spPr>
          <a:xfrm>
            <a:off x="640080" y="3538728"/>
            <a:ext cx="3794760" cy="12801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MCP becomes the agent protocol (Anthropic, OpenAI, Google)</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Data-sovereignty regulation (EU AI Act, US state laws)</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Mid-market squeeze: Glean $240K ACV unaffordable</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ADHD / neurodivergent power-user segment underserved</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Adapter marketplace + vertical SKUs (legal, healthcare, finance)</a:t>
            </a:r>
            <a:endParaRPr lang="en-US" sz="900" dirty="0"/>
          </a:p>
        </p:txBody>
      </p:sp>
      <p:sp>
        <p:nvSpPr>
          <p:cNvPr id="16" name="Shape 14"/>
          <p:cNvSpPr/>
          <p:nvPr/>
        </p:nvSpPr>
        <p:spPr>
          <a:xfrm>
            <a:off x="4617720" y="3154680"/>
            <a:ext cx="4069080" cy="1691640"/>
          </a:xfrm>
          <a:prstGeom prst="rect">
            <a:avLst/>
          </a:prstGeom>
          <a:solidFill>
            <a:srgbClr val="F8FAFC"/>
          </a:solidFill>
          <a:ln w="6350">
            <a:solidFill>
              <a:srgbClr val="E2E8F0"/>
            </a:solidFill>
            <a:prstDash val="solid"/>
          </a:ln>
        </p:spPr>
      </p:sp>
      <p:sp>
        <p:nvSpPr>
          <p:cNvPr id="17" name="Shape 15"/>
          <p:cNvSpPr/>
          <p:nvPr/>
        </p:nvSpPr>
        <p:spPr>
          <a:xfrm>
            <a:off x="4617720" y="3154680"/>
            <a:ext cx="73152" cy="1691640"/>
          </a:xfrm>
          <a:prstGeom prst="rect">
            <a:avLst/>
          </a:prstGeom>
          <a:solidFill>
            <a:srgbClr val="F59E0B"/>
          </a:solidFill>
          <a:ln/>
        </p:spPr>
      </p:sp>
      <p:sp>
        <p:nvSpPr>
          <p:cNvPr id="18" name="Text 16"/>
          <p:cNvSpPr/>
          <p:nvPr/>
        </p:nvSpPr>
        <p:spPr>
          <a:xfrm>
            <a:off x="4800600" y="3246120"/>
            <a:ext cx="384048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THREATS</a:t>
            </a:r>
            <a:endParaRPr lang="en-US" sz="1100" dirty="0"/>
          </a:p>
        </p:txBody>
      </p:sp>
      <p:sp>
        <p:nvSpPr>
          <p:cNvPr id="19" name="Text 17"/>
          <p:cNvSpPr/>
          <p:nvPr/>
        </p:nvSpPr>
        <p:spPr>
          <a:xfrm>
            <a:off x="4800600" y="3538728"/>
            <a:ext cx="3794760" cy="12801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Glean or MS ships a credible self-hosted MCP tier</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Cognee evolves into a workflow product (closest architecturally)</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Atlassian acquires a memory infra startup</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Consumer memory (ChatGPT, Claude) closes the gap from above</a:t>
            </a:r>
            <a:endParaRPr lang="en-US" sz="900" dirty="0"/>
          </a:p>
          <a:p>
            <a:pPr marL="342900" indent="-342900">
              <a:spcAft>
                <a:spcPts val="300"/>
              </a:spcAft>
              <a:buSzPct val="100000"/>
              <a:buChar char="●"/>
            </a:pPr>
            <a:r>
              <a:rPr lang="en-US" sz="900" dirty="0">
                <a:solidFill>
                  <a:srgbClr val="0F172A"/>
                </a:solidFill>
                <a:latin typeface="Calibri" pitchFamily="34" charset="0"/>
                <a:ea typeface="Calibri" pitchFamily="34" charset="-122"/>
                <a:cs typeface="Calibri" pitchFamily="34" charset="-120"/>
              </a:rPr>
              <a:t>MCP loses to Google A2A or another protocol</a:t>
            </a:r>
            <a:endParaRPr lang="en-US" sz="900" dirty="0"/>
          </a:p>
        </p:txBody>
      </p:sp>
      <p:sp>
        <p:nvSpPr>
          <p:cNvPr id="20" name="Text 18"/>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15</a:t>
            </a:r>
            <a:endParaRPr lang="en-US" sz="900" dirty="0"/>
          </a:p>
        </p:txBody>
      </p:sp>
      <p:sp>
        <p:nvSpPr>
          <p:cNvPr id="21" name="Text 19"/>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08 — SWOT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Recommendation</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Positioning and wedge</a:t>
            </a:r>
            <a:endParaRPr lang="en-US" sz="2800" dirty="0"/>
          </a:p>
        </p:txBody>
      </p:sp>
      <p:sp>
        <p:nvSpPr>
          <p:cNvPr id="4" name="Shape 2"/>
          <p:cNvSpPr/>
          <p:nvPr/>
        </p:nvSpPr>
        <p:spPr>
          <a:xfrm>
            <a:off x="457200" y="1325880"/>
            <a:ext cx="8229600" cy="1691640"/>
          </a:xfrm>
          <a:prstGeom prst="rect">
            <a:avLst/>
          </a:prstGeom>
          <a:solidFill>
            <a:srgbClr val="0A1628"/>
          </a:solidFill>
          <a:ln/>
        </p:spPr>
      </p:sp>
      <p:sp>
        <p:nvSpPr>
          <p:cNvPr id="5" name="Text 3"/>
          <p:cNvSpPr/>
          <p:nvPr/>
        </p:nvSpPr>
        <p:spPr>
          <a:xfrm>
            <a:off x="685800" y="1417320"/>
            <a:ext cx="77724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Positioning statement</a:t>
            </a:r>
            <a:endParaRPr lang="en-US" sz="1000" dirty="0"/>
          </a:p>
        </p:txBody>
      </p:sp>
      <p:sp>
        <p:nvSpPr>
          <p:cNvPr id="6" name="Text 4"/>
          <p:cNvSpPr/>
          <p:nvPr/>
        </p:nvSpPr>
        <p:spPr>
          <a:xfrm>
            <a:off x="685800" y="1691640"/>
            <a:ext cx="7772400" cy="128016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For </a:t>
            </a:r>
            <a:pPr indent="0" marL="0">
              <a:lnSpc>
                <a:spcPct val="125000"/>
              </a:lnSpc>
              <a:buNone/>
            </a:pPr>
            <a:r>
              <a:rPr lang="en-US" sz="1200" b="1" dirty="0">
                <a:solidFill>
                  <a:srgbClr val="F59E0B"/>
                </a:solidFill>
                <a:latin typeface="Calibri" pitchFamily="34" charset="0"/>
                <a:ea typeface="Calibri" pitchFamily="34" charset="-122"/>
                <a:cs typeface="Calibri" pitchFamily="34" charset="-120"/>
              </a:rPr>
              <a:t>AI-power-user developers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who want their AI agents to remember their entire work life, </a:t>
            </a:r>
            <a:pPr indent="0" marL="0">
              <a:lnSpc>
                <a:spcPct val="125000"/>
              </a:lnSpc>
              <a:buNone/>
            </a:pPr>
            <a:r>
              <a:rPr lang="en-US" sz="1200" b="1" dirty="0">
                <a:solidFill>
                  <a:srgbClr val="F59E0B"/>
                </a:solidFill>
                <a:latin typeface="Calibri" pitchFamily="34" charset="0"/>
                <a:ea typeface="Calibri" pitchFamily="34" charset="-122"/>
                <a:cs typeface="Calibri" pitchFamily="34" charset="-120"/>
              </a:rPr>
              <a:t>Cortex is a self-hosted, MCP-native knowledge OS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that ingests their docs, tickets, meetings, code, chat, and notes into a memory layer any AI agent can query. </a:t>
            </a:r>
            <a:pPr indent="0" marL="0">
              <a:lnSpc>
                <a:spcPct val="125000"/>
              </a:lnSpc>
              <a:buNone/>
            </a:pPr>
            <a:r>
              <a:rPr lang="en-US" sz="1200" b="1" dirty="0">
                <a:solidFill>
                  <a:srgbClr val="F59E0B"/>
                </a:solidFill>
                <a:latin typeface="Calibri" pitchFamily="34" charset="0"/>
                <a:ea typeface="Calibri" pitchFamily="34" charset="-122"/>
                <a:cs typeface="Calibri" pitchFamily="34" charset="-120"/>
              </a:rPr>
              <a:t>Unlike Glean or M365 Copilot,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Cortex runs on the user's hardware and works with any LLM the user trusts.</a:t>
            </a:r>
            <a:endParaRPr lang="en-US" sz="1200" dirty="0"/>
          </a:p>
        </p:txBody>
      </p:sp>
      <p:sp>
        <p:nvSpPr>
          <p:cNvPr id="7" name="Text 5"/>
          <p:cNvSpPr/>
          <p:nvPr/>
        </p:nvSpPr>
        <p:spPr>
          <a:xfrm>
            <a:off x="457200" y="3108960"/>
            <a:ext cx="8229600" cy="274320"/>
          </a:xfrm>
          <a:prstGeom prst="rect">
            <a:avLst/>
          </a:prstGeom>
          <a:noFill/>
          <a:ln/>
        </p:spPr>
        <p:txBody>
          <a:bodyPr wrap="square" lIns="0" tIns="0" rIns="0" bIns="0" rtlCol="0" anchor="ctr"/>
          <a:lstStyle/>
          <a:p>
            <a:pPr indent="0" marL="0">
              <a:buNone/>
            </a:pPr>
            <a:r>
              <a:rPr lang="en-US" sz="1100" b="1" spc="400" kern="0" dirty="0">
                <a:solidFill>
                  <a:srgbClr val="4F46E5"/>
                </a:solidFill>
                <a:latin typeface="Calibri" pitchFamily="34" charset="0"/>
                <a:ea typeface="Calibri" pitchFamily="34" charset="-122"/>
                <a:cs typeface="Calibri" pitchFamily="34" charset="-120"/>
              </a:rPr>
              <a:t>Audience priority</a:t>
            </a:r>
            <a:endParaRPr lang="en-US" sz="1100" dirty="0"/>
          </a:p>
        </p:txBody>
      </p:sp>
      <p:sp>
        <p:nvSpPr>
          <p:cNvPr id="8" name="Shape 6"/>
          <p:cNvSpPr/>
          <p:nvPr/>
        </p:nvSpPr>
        <p:spPr>
          <a:xfrm>
            <a:off x="457200" y="3456432"/>
            <a:ext cx="292608" cy="292608"/>
          </a:xfrm>
          <a:prstGeom prst="ellipse">
            <a:avLst/>
          </a:prstGeom>
          <a:solidFill>
            <a:srgbClr val="4F46E5"/>
          </a:solidFill>
          <a:ln/>
        </p:spPr>
      </p:sp>
      <p:sp>
        <p:nvSpPr>
          <p:cNvPr id="9" name="Text 7"/>
          <p:cNvSpPr/>
          <p:nvPr/>
        </p:nvSpPr>
        <p:spPr>
          <a:xfrm>
            <a:off x="457200" y="34564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868680" y="3456432"/>
            <a:ext cx="1280160" cy="29260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Wedge</a:t>
            </a:r>
            <a:endParaRPr lang="en-US" sz="1100" dirty="0"/>
          </a:p>
        </p:txBody>
      </p:sp>
      <p:sp>
        <p:nvSpPr>
          <p:cNvPr id="11" name="Text 9"/>
          <p:cNvSpPr/>
          <p:nvPr/>
        </p:nvSpPr>
        <p:spPr>
          <a:xfrm>
            <a:off x="2194560" y="3456432"/>
            <a:ext cx="649224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AI-power-user devs already in MCP — Claude Code/Desktop, Pyre</a:t>
            </a:r>
            <a:endParaRPr lang="en-US" sz="1050" dirty="0"/>
          </a:p>
        </p:txBody>
      </p:sp>
      <p:sp>
        <p:nvSpPr>
          <p:cNvPr id="12" name="Shape 10"/>
          <p:cNvSpPr/>
          <p:nvPr/>
        </p:nvSpPr>
        <p:spPr>
          <a:xfrm>
            <a:off x="457200" y="3785616"/>
            <a:ext cx="292608" cy="292608"/>
          </a:xfrm>
          <a:prstGeom prst="ellipse">
            <a:avLst/>
          </a:prstGeom>
          <a:solidFill>
            <a:srgbClr val="4F46E5"/>
          </a:solidFill>
          <a:ln/>
        </p:spPr>
      </p:sp>
      <p:sp>
        <p:nvSpPr>
          <p:cNvPr id="13" name="Text 11"/>
          <p:cNvSpPr/>
          <p:nvPr/>
        </p:nvSpPr>
        <p:spPr>
          <a:xfrm>
            <a:off x="457200" y="37856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868680" y="3785616"/>
            <a:ext cx="1280160" cy="29260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Expansion</a:t>
            </a:r>
            <a:endParaRPr lang="en-US" sz="1100" dirty="0"/>
          </a:p>
        </p:txBody>
      </p:sp>
      <p:sp>
        <p:nvSpPr>
          <p:cNvPr id="15" name="Text 13"/>
          <p:cNvSpPr/>
          <p:nvPr/>
        </p:nvSpPr>
        <p:spPr>
          <a:xfrm>
            <a:off x="2194560" y="3785616"/>
            <a:ext cx="649224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Multi-context knowledge workers — consultants, multi-employer ICs</a:t>
            </a:r>
            <a:endParaRPr lang="en-US" sz="1050" dirty="0"/>
          </a:p>
        </p:txBody>
      </p:sp>
      <p:sp>
        <p:nvSpPr>
          <p:cNvPr id="16" name="Shape 14"/>
          <p:cNvSpPr/>
          <p:nvPr/>
        </p:nvSpPr>
        <p:spPr>
          <a:xfrm>
            <a:off x="457200" y="4114800"/>
            <a:ext cx="292608" cy="292608"/>
          </a:xfrm>
          <a:prstGeom prst="ellipse">
            <a:avLst/>
          </a:prstGeom>
          <a:solidFill>
            <a:srgbClr val="4F46E5"/>
          </a:solidFill>
          <a:ln/>
        </p:spPr>
      </p:sp>
      <p:sp>
        <p:nvSpPr>
          <p:cNvPr id="17" name="Text 15"/>
          <p:cNvSpPr/>
          <p:nvPr/>
        </p:nvSpPr>
        <p:spPr>
          <a:xfrm>
            <a:off x="457200" y="41148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68680" y="4114800"/>
            <a:ext cx="1280160" cy="29260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Expansion</a:t>
            </a:r>
            <a:endParaRPr lang="en-US" sz="1100" dirty="0"/>
          </a:p>
        </p:txBody>
      </p:sp>
      <p:sp>
        <p:nvSpPr>
          <p:cNvPr id="19" name="Text 17"/>
          <p:cNvSpPr/>
          <p:nvPr/>
        </p:nvSpPr>
        <p:spPr>
          <a:xfrm>
            <a:off x="2194560" y="4114800"/>
            <a:ext cx="649224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ADHD / neurodivergent professionals — capture/brief/digest loop fits</a:t>
            </a:r>
            <a:endParaRPr lang="en-US" sz="1050" dirty="0"/>
          </a:p>
        </p:txBody>
      </p:sp>
      <p:sp>
        <p:nvSpPr>
          <p:cNvPr id="20" name="Shape 18"/>
          <p:cNvSpPr/>
          <p:nvPr/>
        </p:nvSpPr>
        <p:spPr>
          <a:xfrm>
            <a:off x="457200" y="4443984"/>
            <a:ext cx="292608" cy="292608"/>
          </a:xfrm>
          <a:prstGeom prst="ellipse">
            <a:avLst/>
          </a:prstGeom>
          <a:solidFill>
            <a:srgbClr val="4F46E5"/>
          </a:solidFill>
          <a:ln/>
        </p:spPr>
      </p:sp>
      <p:sp>
        <p:nvSpPr>
          <p:cNvPr id="21" name="Text 19"/>
          <p:cNvSpPr/>
          <p:nvPr/>
        </p:nvSpPr>
        <p:spPr>
          <a:xfrm>
            <a:off x="457200" y="44439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868680" y="4443984"/>
            <a:ext cx="1280160" cy="29260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Long-tail</a:t>
            </a:r>
            <a:endParaRPr lang="en-US" sz="1100" dirty="0"/>
          </a:p>
        </p:txBody>
      </p:sp>
      <p:sp>
        <p:nvSpPr>
          <p:cNvPr id="23" name="Text 21"/>
          <p:cNvSpPr/>
          <p:nvPr/>
        </p:nvSpPr>
        <p:spPr>
          <a:xfrm>
            <a:off x="2194560" y="4443984"/>
            <a:ext cx="649224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Regulated mid-market (50-500 ppl) — needs enterprise bundle first</a:t>
            </a:r>
            <a:endParaRPr lang="en-US" sz="1050" dirty="0"/>
          </a:p>
        </p:txBody>
      </p:sp>
      <p:sp>
        <p:nvSpPr>
          <p:cNvPr id="24" name="Text 22"/>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15</a:t>
            </a:r>
            <a:endParaRPr lang="en-US" sz="900" dirty="0"/>
          </a:p>
        </p:txBody>
      </p:sp>
      <p:sp>
        <p:nvSpPr>
          <p:cNvPr id="25" name="Text 23"/>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09 — Positioning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Investor narrative</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The agent economy needs user-owned knowledge</a:t>
            </a:r>
            <a:endParaRPr lang="en-US" sz="2600" dirty="0"/>
          </a:p>
        </p:txBody>
      </p:sp>
      <p:graphicFrame>
        <p:nvGraphicFramePr>
          <p:cNvPr id="4" name="Chart 0" descr=""/>
          <p:cNvGraphicFramePr/>
          <p:nvPr/>
        </p:nvGraphicFramePr>
        <p:xfrm>
          <a:off x="457200" y="141732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394960" y="1417320"/>
            <a:ext cx="3291840" cy="3200400"/>
          </a:xfrm>
          <a:prstGeom prst="rect">
            <a:avLst/>
          </a:prstGeom>
          <a:solidFill>
            <a:srgbClr val="0A1628"/>
          </a:solidFill>
          <a:ln/>
        </p:spPr>
      </p:sp>
      <p:sp>
        <p:nvSpPr>
          <p:cNvPr id="6" name="Text 3"/>
          <p:cNvSpPr/>
          <p:nvPr/>
        </p:nvSpPr>
        <p:spPr>
          <a:xfrm>
            <a:off x="5577840" y="1554480"/>
            <a:ext cx="292608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Why venture-scale</a:t>
            </a:r>
            <a:endParaRPr lang="en-US" sz="1300" dirty="0"/>
          </a:p>
        </p:txBody>
      </p:sp>
      <p:sp>
        <p:nvSpPr>
          <p:cNvPr id="7" name="Text 4"/>
          <p:cNvSpPr/>
          <p:nvPr/>
        </p:nvSpPr>
        <p:spPr>
          <a:xfrm>
            <a:off x="5577840" y="196596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Enterprise search TAM</a:t>
            </a:r>
            <a:endParaRPr lang="en-US" sz="850" dirty="0"/>
          </a:p>
        </p:txBody>
      </p:sp>
      <p:sp>
        <p:nvSpPr>
          <p:cNvPr id="8" name="Text 5"/>
          <p:cNvSpPr/>
          <p:nvPr/>
        </p:nvSpPr>
        <p:spPr>
          <a:xfrm>
            <a:off x="5577840" y="214884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$3-5B · 30%+ YoY</a:t>
            </a:r>
            <a:endParaRPr lang="en-US" sz="1100" dirty="0"/>
          </a:p>
        </p:txBody>
      </p:sp>
      <p:sp>
        <p:nvSpPr>
          <p:cNvPr id="9" name="Text 6"/>
          <p:cNvSpPr/>
          <p:nvPr/>
        </p:nvSpPr>
        <p:spPr>
          <a:xfrm>
            <a:off x="5577840" y="237744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AI memory infra ARR</a:t>
            </a:r>
            <a:endParaRPr lang="en-US" sz="850" dirty="0"/>
          </a:p>
        </p:txBody>
      </p:sp>
      <p:sp>
        <p:nvSpPr>
          <p:cNvPr id="10" name="Text 7"/>
          <p:cNvSpPr/>
          <p:nvPr/>
        </p:nvSpPr>
        <p:spPr>
          <a:xfrm>
            <a:off x="5577840" y="256032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$50-150M today · 100x by 2030</a:t>
            </a:r>
            <a:endParaRPr lang="en-US" sz="1100" dirty="0"/>
          </a:p>
        </p:txBody>
      </p:sp>
      <p:sp>
        <p:nvSpPr>
          <p:cNvPr id="11" name="Text 8"/>
          <p:cNvSpPr/>
          <p:nvPr/>
        </p:nvSpPr>
        <p:spPr>
          <a:xfrm>
            <a:off x="5577840" y="278892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Glean valuation proxy</a:t>
            </a:r>
            <a:endParaRPr lang="en-US" sz="850" dirty="0"/>
          </a:p>
        </p:txBody>
      </p:sp>
      <p:sp>
        <p:nvSpPr>
          <p:cNvPr id="12" name="Text 9"/>
          <p:cNvSpPr/>
          <p:nvPr/>
        </p:nvSpPr>
        <p:spPr>
          <a:xfrm>
            <a:off x="5577840" y="297180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$7B (2025)</a:t>
            </a:r>
            <a:endParaRPr lang="en-US" sz="1100" dirty="0"/>
          </a:p>
        </p:txBody>
      </p:sp>
      <p:sp>
        <p:nvSpPr>
          <p:cNvPr id="13" name="Text 10"/>
          <p:cNvSpPr/>
          <p:nvPr/>
        </p:nvSpPr>
        <p:spPr>
          <a:xfrm>
            <a:off x="5577840" y="320040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MCP protocol leverage</a:t>
            </a:r>
            <a:endParaRPr lang="en-US" sz="850" dirty="0"/>
          </a:p>
        </p:txBody>
      </p:sp>
      <p:sp>
        <p:nvSpPr>
          <p:cNvPr id="14" name="Text 11"/>
          <p:cNvSpPr/>
          <p:nvPr/>
        </p:nvSpPr>
        <p:spPr>
          <a:xfrm>
            <a:off x="5577840" y="338328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every new MCP client = free distribution</a:t>
            </a:r>
            <a:endParaRPr lang="en-US" sz="1100" dirty="0"/>
          </a:p>
        </p:txBody>
      </p:sp>
      <p:sp>
        <p:nvSpPr>
          <p:cNvPr id="15" name="Text 12"/>
          <p:cNvSpPr/>
          <p:nvPr/>
        </p:nvSpPr>
        <p:spPr>
          <a:xfrm>
            <a:off x="5577840" y="361188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Adapter compounding</a:t>
            </a:r>
            <a:endParaRPr lang="en-US" sz="850" dirty="0"/>
          </a:p>
        </p:txBody>
      </p:sp>
      <p:sp>
        <p:nvSpPr>
          <p:cNvPr id="16" name="Text 13"/>
          <p:cNvSpPr/>
          <p:nvPr/>
        </p:nvSpPr>
        <p:spPr>
          <a:xfrm>
            <a:off x="5577840" y="379476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each adapter raises switching cost</a:t>
            </a:r>
            <a:endParaRPr lang="en-US" sz="1100" dirty="0"/>
          </a:p>
        </p:txBody>
      </p:sp>
      <p:sp>
        <p:nvSpPr>
          <p:cNvPr id="17" name="Text 14"/>
          <p:cNvSpPr/>
          <p:nvPr/>
        </p:nvSpPr>
        <p:spPr>
          <a:xfrm>
            <a:off x="5577840" y="4023360"/>
            <a:ext cx="2926080" cy="182880"/>
          </a:xfrm>
          <a:prstGeom prst="rect">
            <a:avLst/>
          </a:prstGeom>
          <a:noFill/>
          <a:ln/>
        </p:spPr>
        <p:txBody>
          <a:bodyPr wrap="square" lIns="0" tIns="0" rIns="0" bIns="0" rtlCol="0" anchor="ctr"/>
          <a:lstStyle/>
          <a:p>
            <a:pPr indent="0" marL="0">
              <a:buNone/>
            </a:pPr>
            <a:r>
              <a:rPr lang="en-US" sz="850" spc="200" kern="0" dirty="0">
                <a:solidFill>
                  <a:srgbClr val="CBD5E1"/>
                </a:solidFill>
                <a:latin typeface="Calibri" pitchFamily="34" charset="0"/>
                <a:ea typeface="Calibri" pitchFamily="34" charset="-122"/>
                <a:cs typeface="Calibri" pitchFamily="34" charset="-120"/>
              </a:rPr>
              <a:t>Acquisition optionality</a:t>
            </a:r>
            <a:endParaRPr lang="en-US" sz="850" dirty="0"/>
          </a:p>
        </p:txBody>
      </p:sp>
      <p:sp>
        <p:nvSpPr>
          <p:cNvPr id="18" name="Text 15"/>
          <p:cNvSpPr/>
          <p:nvPr/>
        </p:nvSpPr>
        <p:spPr>
          <a:xfrm>
            <a:off x="5577840" y="4206240"/>
            <a:ext cx="292608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Atlassian, MS, Notion, Anthropic, OpenAI</a:t>
            </a:r>
            <a:endParaRPr lang="en-US" sz="1100" dirty="0"/>
          </a:p>
        </p:txBody>
      </p:sp>
      <p:sp>
        <p:nvSpPr>
          <p:cNvPr id="19" name="Text 16"/>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15</a:t>
            </a:r>
            <a:endParaRPr lang="en-US" sz="900" dirty="0"/>
          </a:p>
        </p:txBody>
      </p:sp>
      <p:sp>
        <p:nvSpPr>
          <p:cNvPr id="20" name="Text 17"/>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10 — Investor narrative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Use of capital</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Two-stage funding plan</a:t>
            </a:r>
            <a:endParaRPr lang="en-US" sz="2800" dirty="0"/>
          </a:p>
        </p:txBody>
      </p:sp>
      <p:sp>
        <p:nvSpPr>
          <p:cNvPr id="4" name="Shape 2"/>
          <p:cNvSpPr/>
          <p:nvPr/>
        </p:nvSpPr>
        <p:spPr>
          <a:xfrm>
            <a:off x="457200" y="1417320"/>
            <a:ext cx="4023360" cy="3246120"/>
          </a:xfrm>
          <a:prstGeom prst="rect">
            <a:avLst/>
          </a:prstGeom>
          <a:solidFill>
            <a:srgbClr val="F8FAFC"/>
          </a:solidFill>
          <a:ln w="6350">
            <a:solidFill>
              <a:srgbClr val="E2E8F0"/>
            </a:solidFill>
            <a:prstDash val="solid"/>
          </a:ln>
        </p:spPr>
      </p:sp>
      <p:sp>
        <p:nvSpPr>
          <p:cNvPr id="5" name="Shape 3"/>
          <p:cNvSpPr/>
          <p:nvPr/>
        </p:nvSpPr>
        <p:spPr>
          <a:xfrm>
            <a:off x="457200" y="1417320"/>
            <a:ext cx="4023360" cy="502920"/>
          </a:xfrm>
          <a:prstGeom prst="rect">
            <a:avLst/>
          </a:prstGeom>
          <a:solidFill>
            <a:srgbClr val="4F46E5"/>
          </a:solidFill>
          <a:ln/>
        </p:spPr>
      </p:sp>
      <p:sp>
        <p:nvSpPr>
          <p:cNvPr id="6" name="Text 4"/>
          <p:cNvSpPr/>
          <p:nvPr/>
        </p:nvSpPr>
        <p:spPr>
          <a:xfrm>
            <a:off x="640080" y="1417320"/>
            <a:ext cx="109728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$1M</a:t>
            </a:r>
            <a:endParaRPr lang="en-US" sz="2200" dirty="0"/>
          </a:p>
        </p:txBody>
      </p:sp>
      <p:sp>
        <p:nvSpPr>
          <p:cNvPr id="7" name="Text 5"/>
          <p:cNvSpPr/>
          <p:nvPr/>
        </p:nvSpPr>
        <p:spPr>
          <a:xfrm>
            <a:off x="1828800" y="1417320"/>
            <a:ext cx="2377440" cy="502920"/>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Seed / pre-seed</a:t>
            </a:r>
            <a:endParaRPr lang="en-US" sz="1200" dirty="0"/>
          </a:p>
        </p:txBody>
      </p:sp>
      <p:pic>
        <p:nvPicPr>
          <p:cNvPr id="8" name="Image 0" descr="preencoded.png">    </p:cNvPr>
          <p:cNvPicPr>
            <a:picLocks noChangeAspect="1"/>
          </p:cNvPicPr>
          <p:nvPr/>
        </p:nvPicPr>
        <p:blipFill>
          <a:blip r:embed="rId1"/>
          <a:stretch>
            <a:fillRect/>
          </a:stretch>
        </p:blipFill>
        <p:spPr>
          <a:xfrm>
            <a:off x="640080" y="2148840"/>
            <a:ext cx="201168" cy="201168"/>
          </a:xfrm>
          <a:prstGeom prst="rect">
            <a:avLst/>
          </a:prstGeom>
        </p:spPr>
      </p:pic>
      <p:sp>
        <p:nvSpPr>
          <p:cNvPr id="9" name="Text 6"/>
          <p:cNvSpPr/>
          <p:nvPr/>
        </p:nvSpPr>
        <p:spPr>
          <a:xfrm>
            <a:off x="914400" y="2130552"/>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Cofounder + 1-2 eng/DevRel hires</a:t>
            </a:r>
            <a:endParaRPr lang="en-US" sz="1050" dirty="0"/>
          </a:p>
        </p:txBody>
      </p:sp>
      <p:pic>
        <p:nvPicPr>
          <p:cNvPr id="10" name="Image 1" descr="preencoded.png">    </p:cNvPr>
          <p:cNvPicPr>
            <a:picLocks noChangeAspect="1"/>
          </p:cNvPicPr>
          <p:nvPr/>
        </p:nvPicPr>
        <p:blipFill>
          <a:blip r:embed="rId2"/>
          <a:stretch>
            <a:fillRect/>
          </a:stretch>
        </p:blipFill>
        <p:spPr>
          <a:xfrm>
            <a:off x="640080" y="2496312"/>
            <a:ext cx="201168" cy="201168"/>
          </a:xfrm>
          <a:prstGeom prst="rect">
            <a:avLst/>
          </a:prstGeom>
        </p:spPr>
      </p:pic>
      <p:sp>
        <p:nvSpPr>
          <p:cNvPr id="11" name="Text 7"/>
          <p:cNvSpPr/>
          <p:nvPr/>
        </p:nvSpPr>
        <p:spPr>
          <a:xfrm>
            <a:off x="914400" y="2478024"/>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Marketing site, 30s demo, content engine</a:t>
            </a:r>
            <a:endParaRPr lang="en-US" sz="1050" dirty="0"/>
          </a:p>
        </p:txBody>
      </p:sp>
      <p:pic>
        <p:nvPicPr>
          <p:cNvPr id="12" name="Image 2" descr="preencoded.png">    </p:cNvPr>
          <p:cNvPicPr>
            <a:picLocks noChangeAspect="1"/>
          </p:cNvPicPr>
          <p:nvPr/>
        </p:nvPicPr>
        <p:blipFill>
          <a:blip r:embed="rId3"/>
          <a:stretch>
            <a:fillRect/>
          </a:stretch>
        </p:blipFill>
        <p:spPr>
          <a:xfrm>
            <a:off x="640080" y="2843784"/>
            <a:ext cx="201168" cy="201168"/>
          </a:xfrm>
          <a:prstGeom prst="rect">
            <a:avLst/>
          </a:prstGeom>
        </p:spPr>
      </p:pic>
      <p:sp>
        <p:nvSpPr>
          <p:cNvPr id="13" name="Text 8"/>
          <p:cNvSpPr/>
          <p:nvPr/>
        </p:nvSpPr>
        <p:spPr>
          <a:xfrm>
            <a:off x="914400" y="2825496"/>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Benchmark publication (LOCOMO, NIAH)</a:t>
            </a:r>
            <a:endParaRPr lang="en-US" sz="1050" dirty="0"/>
          </a:p>
        </p:txBody>
      </p:sp>
      <p:pic>
        <p:nvPicPr>
          <p:cNvPr id="14" name="Image 3" descr="preencoded.png">    </p:cNvPr>
          <p:cNvPicPr>
            <a:picLocks noChangeAspect="1"/>
          </p:cNvPicPr>
          <p:nvPr/>
        </p:nvPicPr>
        <p:blipFill>
          <a:blip r:embed="rId4"/>
          <a:stretch>
            <a:fillRect/>
          </a:stretch>
        </p:blipFill>
        <p:spPr>
          <a:xfrm>
            <a:off x="640080" y="3191256"/>
            <a:ext cx="201168" cy="201168"/>
          </a:xfrm>
          <a:prstGeom prst="rect">
            <a:avLst/>
          </a:prstGeom>
        </p:spPr>
      </p:pic>
      <p:sp>
        <p:nvSpPr>
          <p:cNvPr id="15" name="Text 9"/>
          <p:cNvSpPr/>
          <p:nvPr/>
        </p:nvSpPr>
        <p:spPr>
          <a:xfrm>
            <a:off x="914400" y="3172968"/>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`cortex up` one-command install + wizard polish</a:t>
            </a:r>
            <a:endParaRPr lang="en-US" sz="1050" dirty="0"/>
          </a:p>
        </p:txBody>
      </p:sp>
      <p:pic>
        <p:nvPicPr>
          <p:cNvPr id="16" name="Image 4" descr="preencoded.png">    </p:cNvPr>
          <p:cNvPicPr>
            <a:picLocks noChangeAspect="1"/>
          </p:cNvPicPr>
          <p:nvPr/>
        </p:nvPicPr>
        <p:blipFill>
          <a:blip r:embed="rId5"/>
          <a:stretch>
            <a:fillRect/>
          </a:stretch>
        </p:blipFill>
        <p:spPr>
          <a:xfrm>
            <a:off x="640080" y="3538728"/>
            <a:ext cx="201168" cy="201168"/>
          </a:xfrm>
          <a:prstGeom prst="rect">
            <a:avLst/>
          </a:prstGeom>
        </p:spPr>
      </p:pic>
      <p:sp>
        <p:nvSpPr>
          <p:cNvPr id="17" name="Text 10"/>
          <p:cNvSpPr/>
          <p:nvPr/>
        </p:nvSpPr>
        <p:spPr>
          <a:xfrm>
            <a:off x="914400" y="3520440"/>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Federation (ADR-016) shipped → team SKU live</a:t>
            </a:r>
            <a:endParaRPr lang="en-US" sz="1050" dirty="0"/>
          </a:p>
        </p:txBody>
      </p:sp>
      <p:pic>
        <p:nvPicPr>
          <p:cNvPr id="18" name="Image 5" descr="preencoded.png">    </p:cNvPr>
          <p:cNvPicPr>
            <a:picLocks noChangeAspect="1"/>
          </p:cNvPicPr>
          <p:nvPr/>
        </p:nvPicPr>
        <p:blipFill>
          <a:blip r:embed="rId6"/>
          <a:stretch>
            <a:fillRect/>
          </a:stretch>
        </p:blipFill>
        <p:spPr>
          <a:xfrm>
            <a:off x="640080" y="3886200"/>
            <a:ext cx="201168" cy="201168"/>
          </a:xfrm>
          <a:prstGeom prst="rect">
            <a:avLst/>
          </a:prstGeom>
        </p:spPr>
      </p:pic>
      <p:sp>
        <p:nvSpPr>
          <p:cNvPr id="19" name="Text 11"/>
          <p:cNvSpPr/>
          <p:nvPr/>
        </p:nvSpPr>
        <p:spPr>
          <a:xfrm>
            <a:off x="914400" y="3867912"/>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Direct Anthropic + OpenAI provider packages</a:t>
            </a:r>
            <a:endParaRPr lang="en-US" sz="1050" dirty="0"/>
          </a:p>
        </p:txBody>
      </p:sp>
      <p:pic>
        <p:nvPicPr>
          <p:cNvPr id="20" name="Image 6" descr="preencoded.png">    </p:cNvPr>
          <p:cNvPicPr>
            <a:picLocks noChangeAspect="1"/>
          </p:cNvPicPr>
          <p:nvPr/>
        </p:nvPicPr>
        <p:blipFill>
          <a:blip r:embed="rId7"/>
          <a:stretch>
            <a:fillRect/>
          </a:stretch>
        </p:blipFill>
        <p:spPr>
          <a:xfrm>
            <a:off x="640080" y="4233672"/>
            <a:ext cx="201168" cy="201168"/>
          </a:xfrm>
          <a:prstGeom prst="rect">
            <a:avLst/>
          </a:prstGeom>
        </p:spPr>
      </p:pic>
      <p:sp>
        <p:nvSpPr>
          <p:cNvPr id="21" name="Text 12"/>
          <p:cNvSpPr/>
          <p:nvPr/>
        </p:nvSpPr>
        <p:spPr>
          <a:xfrm>
            <a:off x="914400" y="4215384"/>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First 1,000 installs, first 100 paid seats</a:t>
            </a:r>
            <a:endParaRPr lang="en-US" sz="1050" dirty="0"/>
          </a:p>
        </p:txBody>
      </p:sp>
      <p:sp>
        <p:nvSpPr>
          <p:cNvPr id="22" name="Shape 13"/>
          <p:cNvSpPr/>
          <p:nvPr/>
        </p:nvSpPr>
        <p:spPr>
          <a:xfrm>
            <a:off x="4663440" y="1417320"/>
            <a:ext cx="4023360" cy="3246120"/>
          </a:xfrm>
          <a:prstGeom prst="rect">
            <a:avLst/>
          </a:prstGeom>
          <a:solidFill>
            <a:srgbClr val="F8FAFC"/>
          </a:solidFill>
          <a:ln w="6350">
            <a:solidFill>
              <a:srgbClr val="E2E8F0"/>
            </a:solidFill>
            <a:prstDash val="solid"/>
          </a:ln>
        </p:spPr>
      </p:sp>
      <p:sp>
        <p:nvSpPr>
          <p:cNvPr id="23" name="Shape 14"/>
          <p:cNvSpPr/>
          <p:nvPr/>
        </p:nvSpPr>
        <p:spPr>
          <a:xfrm>
            <a:off x="4663440" y="1417320"/>
            <a:ext cx="4023360" cy="502920"/>
          </a:xfrm>
          <a:prstGeom prst="rect">
            <a:avLst/>
          </a:prstGeom>
          <a:solidFill>
            <a:srgbClr val="0A1628"/>
          </a:solidFill>
          <a:ln/>
        </p:spPr>
      </p:sp>
      <p:sp>
        <p:nvSpPr>
          <p:cNvPr id="24" name="Text 15"/>
          <p:cNvSpPr/>
          <p:nvPr/>
        </p:nvSpPr>
        <p:spPr>
          <a:xfrm>
            <a:off x="4846320" y="1417320"/>
            <a:ext cx="1097280" cy="50292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$5M</a:t>
            </a:r>
            <a:endParaRPr lang="en-US" sz="2200" dirty="0"/>
          </a:p>
        </p:txBody>
      </p:sp>
      <p:sp>
        <p:nvSpPr>
          <p:cNvPr id="25" name="Text 16"/>
          <p:cNvSpPr/>
          <p:nvPr/>
        </p:nvSpPr>
        <p:spPr>
          <a:xfrm>
            <a:off x="6035040" y="1417320"/>
            <a:ext cx="2377440" cy="502920"/>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Series A</a:t>
            </a:r>
            <a:endParaRPr lang="en-US" sz="1200" dirty="0"/>
          </a:p>
        </p:txBody>
      </p:sp>
      <p:pic>
        <p:nvPicPr>
          <p:cNvPr id="26" name="Image 7" descr="preencoded.png">    </p:cNvPr>
          <p:cNvPicPr>
            <a:picLocks noChangeAspect="1"/>
          </p:cNvPicPr>
          <p:nvPr/>
        </p:nvPicPr>
        <p:blipFill>
          <a:blip r:embed="rId8"/>
          <a:stretch>
            <a:fillRect/>
          </a:stretch>
        </p:blipFill>
        <p:spPr>
          <a:xfrm>
            <a:off x="4846320" y="2148840"/>
            <a:ext cx="201168" cy="201168"/>
          </a:xfrm>
          <a:prstGeom prst="rect">
            <a:avLst/>
          </a:prstGeom>
        </p:spPr>
      </p:pic>
      <p:sp>
        <p:nvSpPr>
          <p:cNvPr id="27" name="Text 17"/>
          <p:cNvSpPr/>
          <p:nvPr/>
        </p:nvSpPr>
        <p:spPr>
          <a:xfrm>
            <a:off x="5120640" y="2130552"/>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Enterprise bundle: SSO/OIDC, audit log, admin console</a:t>
            </a:r>
            <a:endParaRPr lang="en-US" sz="1050" dirty="0"/>
          </a:p>
        </p:txBody>
      </p:sp>
      <p:pic>
        <p:nvPicPr>
          <p:cNvPr id="28" name="Image 8" descr="preencoded.png">    </p:cNvPr>
          <p:cNvPicPr>
            <a:picLocks noChangeAspect="1"/>
          </p:cNvPicPr>
          <p:nvPr/>
        </p:nvPicPr>
        <p:blipFill>
          <a:blip r:embed="rId9"/>
          <a:stretch>
            <a:fillRect/>
          </a:stretch>
        </p:blipFill>
        <p:spPr>
          <a:xfrm>
            <a:off x="4846320" y="2496312"/>
            <a:ext cx="201168" cy="201168"/>
          </a:xfrm>
          <a:prstGeom prst="rect">
            <a:avLst/>
          </a:prstGeom>
        </p:spPr>
      </p:pic>
      <p:sp>
        <p:nvSpPr>
          <p:cNvPr id="29" name="Text 18"/>
          <p:cNvSpPr/>
          <p:nvPr/>
        </p:nvSpPr>
        <p:spPr>
          <a:xfrm>
            <a:off x="5120640" y="2478024"/>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Cortex Cloud (hosted SKU, SaaS gross margins)</a:t>
            </a:r>
            <a:endParaRPr lang="en-US" sz="1050" dirty="0"/>
          </a:p>
        </p:txBody>
      </p:sp>
      <p:pic>
        <p:nvPicPr>
          <p:cNvPr id="30" name="Image 9" descr="preencoded.png">    </p:cNvPr>
          <p:cNvPicPr>
            <a:picLocks noChangeAspect="1"/>
          </p:cNvPicPr>
          <p:nvPr/>
        </p:nvPicPr>
        <p:blipFill>
          <a:blip r:embed="rId10"/>
          <a:stretch>
            <a:fillRect/>
          </a:stretch>
        </p:blipFill>
        <p:spPr>
          <a:xfrm>
            <a:off x="4846320" y="2843784"/>
            <a:ext cx="201168" cy="201168"/>
          </a:xfrm>
          <a:prstGeom prst="rect">
            <a:avLst/>
          </a:prstGeom>
        </p:spPr>
      </p:pic>
      <p:sp>
        <p:nvSpPr>
          <p:cNvPr id="31" name="Text 19"/>
          <p:cNvSpPr/>
          <p:nvPr/>
        </p:nvSpPr>
        <p:spPr>
          <a:xfrm>
            <a:off x="5120640" y="2825496"/>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Second cohort of premium adapters (Salesforce, HubSpot, ServiceNow)</a:t>
            </a:r>
            <a:endParaRPr lang="en-US" sz="1050" dirty="0"/>
          </a:p>
        </p:txBody>
      </p:sp>
      <p:pic>
        <p:nvPicPr>
          <p:cNvPr id="32" name="Image 10" descr="preencoded.png">    </p:cNvPr>
          <p:cNvPicPr>
            <a:picLocks noChangeAspect="1"/>
          </p:cNvPicPr>
          <p:nvPr/>
        </p:nvPicPr>
        <p:blipFill>
          <a:blip r:embed="rId11"/>
          <a:stretch>
            <a:fillRect/>
          </a:stretch>
        </p:blipFill>
        <p:spPr>
          <a:xfrm>
            <a:off x="4846320" y="3191256"/>
            <a:ext cx="201168" cy="201168"/>
          </a:xfrm>
          <a:prstGeom prst="rect">
            <a:avLst/>
          </a:prstGeom>
        </p:spPr>
      </p:pic>
      <p:sp>
        <p:nvSpPr>
          <p:cNvPr id="33" name="Text 20"/>
          <p:cNvSpPr/>
          <p:nvPr/>
        </p:nvSpPr>
        <p:spPr>
          <a:xfrm>
            <a:off x="5120640" y="3172968"/>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10 mid-market design partners on team SKU</a:t>
            </a:r>
            <a:endParaRPr lang="en-US" sz="1050" dirty="0"/>
          </a:p>
        </p:txBody>
      </p:sp>
      <p:pic>
        <p:nvPicPr>
          <p:cNvPr id="34" name="Image 11" descr="preencoded.png">    </p:cNvPr>
          <p:cNvPicPr>
            <a:picLocks noChangeAspect="1"/>
          </p:cNvPicPr>
          <p:nvPr/>
        </p:nvPicPr>
        <p:blipFill>
          <a:blip r:embed="rId12"/>
          <a:stretch>
            <a:fillRect/>
          </a:stretch>
        </p:blipFill>
        <p:spPr>
          <a:xfrm>
            <a:off x="4846320" y="3538728"/>
            <a:ext cx="201168" cy="201168"/>
          </a:xfrm>
          <a:prstGeom prst="rect">
            <a:avLst/>
          </a:prstGeom>
        </p:spPr>
      </p:pic>
      <p:sp>
        <p:nvSpPr>
          <p:cNvPr id="35" name="Text 21"/>
          <p:cNvSpPr/>
          <p:nvPr/>
        </p:nvSpPr>
        <p:spPr>
          <a:xfrm>
            <a:off x="5120640" y="3520440"/>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Conference presence + analyst coverage (Gartner, Forrester)</a:t>
            </a:r>
            <a:endParaRPr lang="en-US" sz="1050" dirty="0"/>
          </a:p>
        </p:txBody>
      </p:sp>
      <p:pic>
        <p:nvPicPr>
          <p:cNvPr id="36" name="Image 12" descr="preencoded.png">    </p:cNvPr>
          <p:cNvPicPr>
            <a:picLocks noChangeAspect="1"/>
          </p:cNvPicPr>
          <p:nvPr/>
        </p:nvPicPr>
        <p:blipFill>
          <a:blip r:embed="rId13"/>
          <a:stretch>
            <a:fillRect/>
          </a:stretch>
        </p:blipFill>
        <p:spPr>
          <a:xfrm>
            <a:off x="4846320" y="3886200"/>
            <a:ext cx="201168" cy="201168"/>
          </a:xfrm>
          <a:prstGeom prst="rect">
            <a:avLst/>
          </a:prstGeom>
        </p:spPr>
      </p:pic>
      <p:sp>
        <p:nvSpPr>
          <p:cNvPr id="37" name="Text 22"/>
          <p:cNvSpPr/>
          <p:nvPr/>
        </p:nvSpPr>
        <p:spPr>
          <a:xfrm>
            <a:off x="5120640" y="3867912"/>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Vertical SKU pilot (legal, healthcare, or finance)</a:t>
            </a:r>
            <a:endParaRPr lang="en-US" sz="1050" dirty="0"/>
          </a:p>
        </p:txBody>
      </p:sp>
      <p:pic>
        <p:nvPicPr>
          <p:cNvPr id="38" name="Image 13" descr="preencoded.png">    </p:cNvPr>
          <p:cNvPicPr>
            <a:picLocks noChangeAspect="1"/>
          </p:cNvPicPr>
          <p:nvPr/>
        </p:nvPicPr>
        <p:blipFill>
          <a:blip r:embed="rId14"/>
          <a:stretch>
            <a:fillRect/>
          </a:stretch>
        </p:blipFill>
        <p:spPr>
          <a:xfrm>
            <a:off x="4846320" y="4233672"/>
            <a:ext cx="201168" cy="201168"/>
          </a:xfrm>
          <a:prstGeom prst="rect">
            <a:avLst/>
          </a:prstGeom>
        </p:spPr>
      </p:pic>
      <p:sp>
        <p:nvSpPr>
          <p:cNvPr id="39" name="Text 23"/>
          <p:cNvSpPr/>
          <p:nvPr/>
        </p:nvSpPr>
        <p:spPr>
          <a:xfrm>
            <a:off x="5120640" y="4215384"/>
            <a:ext cx="352044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Move toward $5-15M ARR SOM</a:t>
            </a:r>
            <a:endParaRPr lang="en-US" sz="1050" dirty="0"/>
          </a:p>
        </p:txBody>
      </p:sp>
      <p:sp>
        <p:nvSpPr>
          <p:cNvPr id="40" name="Text 24"/>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15</a:t>
            </a:r>
            <a:endParaRPr lang="en-US" sz="900" dirty="0"/>
          </a:p>
        </p:txBody>
      </p:sp>
      <p:sp>
        <p:nvSpPr>
          <p:cNvPr id="41" name="Text 25"/>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11 — Use of capital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EF4444"/>
                </a:solidFill>
                <a:latin typeface="Calibri" pitchFamily="34" charset="0"/>
                <a:ea typeface="Calibri" pitchFamily="34" charset="-122"/>
                <a:cs typeface="Calibri" pitchFamily="34" charset="-120"/>
              </a:rPr>
              <a:t>Risks</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Top-five risks and what we'll watch</a:t>
            </a:r>
            <a:endParaRPr lang="en-US" sz="2800" dirty="0"/>
          </a:p>
        </p:txBody>
      </p:sp>
      <p:sp>
        <p:nvSpPr>
          <p:cNvPr id="4" name="Shape 2"/>
          <p:cNvSpPr/>
          <p:nvPr/>
        </p:nvSpPr>
        <p:spPr>
          <a:xfrm>
            <a:off x="457200" y="1417320"/>
            <a:ext cx="8229600" cy="548640"/>
          </a:xfrm>
          <a:prstGeom prst="rect">
            <a:avLst/>
          </a:prstGeom>
          <a:solidFill>
            <a:srgbClr val="F8FAFC"/>
          </a:solidFill>
          <a:ln w="6350">
            <a:solidFill>
              <a:srgbClr val="E2E8F0"/>
            </a:solidFill>
            <a:prstDash val="solid"/>
          </a:ln>
        </p:spPr>
      </p:sp>
      <p:sp>
        <p:nvSpPr>
          <p:cNvPr id="5" name="Shape 3"/>
          <p:cNvSpPr/>
          <p:nvPr/>
        </p:nvSpPr>
        <p:spPr>
          <a:xfrm>
            <a:off x="594360" y="1536192"/>
            <a:ext cx="310896" cy="310896"/>
          </a:xfrm>
          <a:prstGeom prst="ellipse">
            <a:avLst/>
          </a:prstGeom>
          <a:solidFill>
            <a:srgbClr val="EF4444"/>
          </a:solidFill>
          <a:ln/>
        </p:spPr>
      </p:sp>
      <p:sp>
        <p:nvSpPr>
          <p:cNvPr id="6" name="Text 4"/>
          <p:cNvSpPr/>
          <p:nvPr/>
        </p:nvSpPr>
        <p:spPr>
          <a:xfrm>
            <a:off x="594360" y="153619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7" name="Text 5"/>
          <p:cNvSpPr/>
          <p:nvPr/>
        </p:nvSpPr>
        <p:spPr>
          <a:xfrm>
            <a:off x="1051560" y="1463040"/>
            <a:ext cx="45720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Glean / MS ships self-hosted MCP tier</a:t>
            </a:r>
            <a:endParaRPr lang="en-US" sz="1200" dirty="0"/>
          </a:p>
        </p:txBody>
      </p:sp>
      <p:sp>
        <p:nvSpPr>
          <p:cNvPr id="8" name="Text 6"/>
          <p:cNvSpPr/>
          <p:nvPr/>
        </p:nvSpPr>
        <p:spPr>
          <a:xfrm>
            <a:off x="5669280" y="1463040"/>
            <a:ext cx="292608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Largest single threat — eliminates the on-prem moat. Status: rumored, not confirmed.</a:t>
            </a:r>
            <a:endParaRPr lang="en-US" sz="950" dirty="0"/>
          </a:p>
        </p:txBody>
      </p:sp>
      <p:sp>
        <p:nvSpPr>
          <p:cNvPr id="9" name="Shape 7"/>
          <p:cNvSpPr/>
          <p:nvPr/>
        </p:nvSpPr>
        <p:spPr>
          <a:xfrm>
            <a:off x="457200" y="2057400"/>
            <a:ext cx="8229600" cy="548640"/>
          </a:xfrm>
          <a:prstGeom prst="rect">
            <a:avLst/>
          </a:prstGeom>
          <a:solidFill>
            <a:srgbClr val="FFFFFF"/>
          </a:solidFill>
          <a:ln w="6350">
            <a:solidFill>
              <a:srgbClr val="E2E8F0"/>
            </a:solidFill>
            <a:prstDash val="solid"/>
          </a:ln>
        </p:spPr>
      </p:sp>
      <p:sp>
        <p:nvSpPr>
          <p:cNvPr id="10" name="Shape 8"/>
          <p:cNvSpPr/>
          <p:nvPr/>
        </p:nvSpPr>
        <p:spPr>
          <a:xfrm>
            <a:off x="594360" y="2176272"/>
            <a:ext cx="310896" cy="310896"/>
          </a:xfrm>
          <a:prstGeom prst="ellipse">
            <a:avLst/>
          </a:prstGeom>
          <a:solidFill>
            <a:srgbClr val="EF4444"/>
          </a:solidFill>
          <a:ln/>
        </p:spPr>
      </p:sp>
      <p:sp>
        <p:nvSpPr>
          <p:cNvPr id="11" name="Text 9"/>
          <p:cNvSpPr/>
          <p:nvPr/>
        </p:nvSpPr>
        <p:spPr>
          <a:xfrm>
            <a:off x="594360" y="217627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1051560" y="2103120"/>
            <a:ext cx="45720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Cognee evolves into a workflow product</a:t>
            </a:r>
            <a:endParaRPr lang="en-US" sz="1200" dirty="0"/>
          </a:p>
        </p:txBody>
      </p:sp>
      <p:sp>
        <p:nvSpPr>
          <p:cNvPr id="13" name="Text 11"/>
          <p:cNvSpPr/>
          <p:nvPr/>
        </p:nvSpPr>
        <p:spPr>
          <a:xfrm>
            <a:off x="5669280" y="2103120"/>
            <a:ext cx="292608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Closest architectural collapse. $7.5M seed gives them runway. Watch their roadmap.</a:t>
            </a:r>
            <a:endParaRPr lang="en-US" sz="950" dirty="0"/>
          </a:p>
        </p:txBody>
      </p:sp>
      <p:sp>
        <p:nvSpPr>
          <p:cNvPr id="14" name="Shape 12"/>
          <p:cNvSpPr/>
          <p:nvPr/>
        </p:nvSpPr>
        <p:spPr>
          <a:xfrm>
            <a:off x="457200" y="2697480"/>
            <a:ext cx="8229600" cy="548640"/>
          </a:xfrm>
          <a:prstGeom prst="rect">
            <a:avLst/>
          </a:prstGeom>
          <a:solidFill>
            <a:srgbClr val="F8FAFC"/>
          </a:solidFill>
          <a:ln w="6350">
            <a:solidFill>
              <a:srgbClr val="E2E8F0"/>
            </a:solidFill>
            <a:prstDash val="solid"/>
          </a:ln>
        </p:spPr>
      </p:sp>
      <p:sp>
        <p:nvSpPr>
          <p:cNvPr id="15" name="Shape 13"/>
          <p:cNvSpPr/>
          <p:nvPr/>
        </p:nvSpPr>
        <p:spPr>
          <a:xfrm>
            <a:off x="594360" y="2816352"/>
            <a:ext cx="310896" cy="310896"/>
          </a:xfrm>
          <a:prstGeom prst="ellipse">
            <a:avLst/>
          </a:prstGeom>
          <a:solidFill>
            <a:srgbClr val="EF4444"/>
          </a:solidFill>
          <a:ln/>
        </p:spPr>
      </p:sp>
      <p:sp>
        <p:nvSpPr>
          <p:cNvPr id="16" name="Text 14"/>
          <p:cNvSpPr/>
          <p:nvPr/>
        </p:nvSpPr>
        <p:spPr>
          <a:xfrm>
            <a:off x="594360" y="281635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1051560" y="2743200"/>
            <a:ext cx="45720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Solo builder burnout</a:t>
            </a:r>
            <a:endParaRPr lang="en-US" sz="1200" dirty="0"/>
          </a:p>
        </p:txBody>
      </p:sp>
      <p:sp>
        <p:nvSpPr>
          <p:cNvPr id="18" name="Text 16"/>
          <p:cNvSpPr/>
          <p:nvPr/>
        </p:nvSpPr>
        <p:spPr>
          <a:xfrm>
            <a:off x="5669280" y="2743200"/>
            <a:ext cx="292608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Bus factor of one. Mitigate: technical cofounder before 2027.</a:t>
            </a:r>
            <a:endParaRPr lang="en-US" sz="950" dirty="0"/>
          </a:p>
        </p:txBody>
      </p:sp>
      <p:sp>
        <p:nvSpPr>
          <p:cNvPr id="19" name="Shape 17"/>
          <p:cNvSpPr/>
          <p:nvPr/>
        </p:nvSpPr>
        <p:spPr>
          <a:xfrm>
            <a:off x="457200" y="3337560"/>
            <a:ext cx="8229600" cy="548640"/>
          </a:xfrm>
          <a:prstGeom prst="rect">
            <a:avLst/>
          </a:prstGeom>
          <a:solidFill>
            <a:srgbClr val="FFFFFF"/>
          </a:solidFill>
          <a:ln w="6350">
            <a:solidFill>
              <a:srgbClr val="E2E8F0"/>
            </a:solidFill>
            <a:prstDash val="solid"/>
          </a:ln>
        </p:spPr>
      </p:sp>
      <p:sp>
        <p:nvSpPr>
          <p:cNvPr id="20" name="Shape 18"/>
          <p:cNvSpPr/>
          <p:nvPr/>
        </p:nvSpPr>
        <p:spPr>
          <a:xfrm>
            <a:off x="594360" y="3456432"/>
            <a:ext cx="310896" cy="310896"/>
          </a:xfrm>
          <a:prstGeom prst="ellipse">
            <a:avLst/>
          </a:prstGeom>
          <a:solidFill>
            <a:srgbClr val="EF4444"/>
          </a:solidFill>
          <a:ln/>
        </p:spPr>
      </p:sp>
      <p:sp>
        <p:nvSpPr>
          <p:cNvPr id="21" name="Text 19"/>
          <p:cNvSpPr/>
          <p:nvPr/>
        </p:nvSpPr>
        <p:spPr>
          <a:xfrm>
            <a:off x="594360" y="345643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1051560" y="3383280"/>
            <a:ext cx="45720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License ambiguity blocks community</a:t>
            </a:r>
            <a:endParaRPr lang="en-US" sz="1200" dirty="0"/>
          </a:p>
        </p:txBody>
      </p:sp>
      <p:sp>
        <p:nvSpPr>
          <p:cNvPr id="23" name="Text 21"/>
          <p:cNvSpPr/>
          <p:nvPr/>
        </p:nvSpPr>
        <p:spPr>
          <a:xfrm>
            <a:off x="5669280" y="3383280"/>
            <a:ext cx="292608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README says 'private, commercial TBD'. Resolve Q3 2026 — pick OSS or source-available.</a:t>
            </a:r>
            <a:endParaRPr lang="en-US" sz="950" dirty="0"/>
          </a:p>
        </p:txBody>
      </p:sp>
      <p:sp>
        <p:nvSpPr>
          <p:cNvPr id="24" name="Shape 22"/>
          <p:cNvSpPr/>
          <p:nvPr/>
        </p:nvSpPr>
        <p:spPr>
          <a:xfrm>
            <a:off x="457200" y="3977640"/>
            <a:ext cx="8229600" cy="548640"/>
          </a:xfrm>
          <a:prstGeom prst="rect">
            <a:avLst/>
          </a:prstGeom>
          <a:solidFill>
            <a:srgbClr val="F8FAFC"/>
          </a:solidFill>
          <a:ln w="6350">
            <a:solidFill>
              <a:srgbClr val="E2E8F0"/>
            </a:solidFill>
            <a:prstDash val="solid"/>
          </a:ln>
        </p:spPr>
      </p:sp>
      <p:sp>
        <p:nvSpPr>
          <p:cNvPr id="25" name="Shape 23"/>
          <p:cNvSpPr/>
          <p:nvPr/>
        </p:nvSpPr>
        <p:spPr>
          <a:xfrm>
            <a:off x="594360" y="4096512"/>
            <a:ext cx="310896" cy="310896"/>
          </a:xfrm>
          <a:prstGeom prst="ellipse">
            <a:avLst/>
          </a:prstGeom>
          <a:solidFill>
            <a:srgbClr val="EF4444"/>
          </a:solidFill>
          <a:ln/>
        </p:spPr>
      </p:sp>
      <p:sp>
        <p:nvSpPr>
          <p:cNvPr id="26" name="Text 24"/>
          <p:cNvSpPr/>
          <p:nvPr/>
        </p:nvSpPr>
        <p:spPr>
          <a:xfrm>
            <a:off x="594360" y="409651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27" name="Text 25"/>
          <p:cNvSpPr/>
          <p:nvPr/>
        </p:nvSpPr>
        <p:spPr>
          <a:xfrm>
            <a:off x="1051560" y="4023360"/>
            <a:ext cx="45720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MCP adoption stalls or fragments</a:t>
            </a:r>
            <a:endParaRPr lang="en-US" sz="1200" dirty="0"/>
          </a:p>
        </p:txBody>
      </p:sp>
      <p:sp>
        <p:nvSpPr>
          <p:cNvPr id="28" name="Text 26"/>
          <p:cNvSpPr/>
          <p:nvPr/>
        </p:nvSpPr>
        <p:spPr>
          <a:xfrm>
            <a:off x="5669280" y="4023360"/>
            <a:ext cx="292608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Hedge: keep MCP layer behind a clean adapter so a second protocol can be added.</a:t>
            </a:r>
            <a:endParaRPr lang="en-US" sz="950" dirty="0"/>
          </a:p>
        </p:txBody>
      </p:sp>
      <p:sp>
        <p:nvSpPr>
          <p:cNvPr id="29" name="Text 27"/>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15</a:t>
            </a:r>
            <a:endParaRPr lang="en-US" sz="900" dirty="0"/>
          </a:p>
        </p:txBody>
      </p:sp>
      <p:sp>
        <p:nvSpPr>
          <p:cNvPr id="30" name="Text 28"/>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12 — Risks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8229600" cy="274320"/>
          </a:xfrm>
          <a:prstGeom prst="rect">
            <a:avLst/>
          </a:prstGeom>
          <a:noFill/>
          <a:ln/>
        </p:spPr>
        <p:txBody>
          <a:bodyPr wrap="square" lIns="0" tIns="0" rIns="0" bIns="0" rtlCol="0" anchor="ctr"/>
          <a:lstStyle/>
          <a:p>
            <a:pPr indent="0" marL="0">
              <a:buNone/>
            </a:pPr>
            <a:r>
              <a:rPr lang="en-US" sz="1200" b="1" spc="600" kern="0" dirty="0">
                <a:solidFill>
                  <a:srgbClr val="4F46E5"/>
                </a:solidFill>
                <a:latin typeface="Calibri" pitchFamily="34" charset="0"/>
                <a:ea typeface="Calibri" pitchFamily="34" charset="-122"/>
                <a:cs typeface="Calibri" pitchFamily="34" charset="-120"/>
              </a:rPr>
              <a:t>Strategic read</a:t>
            </a:r>
            <a:endParaRPr lang="en-US" sz="1200" dirty="0"/>
          </a:p>
        </p:txBody>
      </p:sp>
      <p:sp>
        <p:nvSpPr>
          <p:cNvPr id="3" name="Text 1"/>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Where Cortex is today and what to do about it</a:t>
            </a:r>
            <a:endParaRPr lang="en-US" sz="2600" dirty="0"/>
          </a:p>
        </p:txBody>
      </p:sp>
      <p:sp>
        <p:nvSpPr>
          <p:cNvPr id="4" name="Shape 2"/>
          <p:cNvSpPr/>
          <p:nvPr/>
        </p:nvSpPr>
        <p:spPr>
          <a:xfrm>
            <a:off x="457200" y="1463040"/>
            <a:ext cx="2606040" cy="27432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457200" y="1463040"/>
            <a:ext cx="2606040" cy="73152"/>
          </a:xfrm>
          <a:prstGeom prst="rect">
            <a:avLst/>
          </a:prstGeom>
          <a:solidFill>
            <a:srgbClr val="10B981"/>
          </a:solidFill>
          <a:ln/>
        </p:spPr>
      </p:sp>
      <p:pic>
        <p:nvPicPr>
          <p:cNvPr id="6" name="Image 0" descr="preencoded.png">    </p:cNvPr>
          <p:cNvPicPr>
            <a:picLocks noChangeAspect="1"/>
          </p:cNvPicPr>
          <p:nvPr/>
        </p:nvPicPr>
        <p:blipFill>
          <a:blip r:embed="rId1"/>
          <a:stretch>
            <a:fillRect/>
          </a:stretch>
        </p:blipFill>
        <p:spPr>
          <a:xfrm>
            <a:off x="640080" y="1691640"/>
            <a:ext cx="411480" cy="411480"/>
          </a:xfrm>
          <a:prstGeom prst="rect">
            <a:avLst/>
          </a:prstGeom>
        </p:spPr>
      </p:pic>
      <p:sp>
        <p:nvSpPr>
          <p:cNvPr id="7" name="Text 4"/>
          <p:cNvSpPr/>
          <p:nvPr/>
        </p:nvSpPr>
        <p:spPr>
          <a:xfrm>
            <a:off x="640080" y="2194560"/>
            <a:ext cx="2331720" cy="5486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18 months ahead</a:t>
            </a:r>
            <a:endParaRPr lang="en-US" sz="1800" dirty="0"/>
          </a:p>
        </p:txBody>
      </p:sp>
      <p:sp>
        <p:nvSpPr>
          <p:cNvPr id="8" name="Text 5"/>
          <p:cNvSpPr/>
          <p:nvPr/>
        </p:nvSpPr>
        <p:spPr>
          <a:xfrm>
            <a:off x="640080" y="2788920"/>
            <a:ext cx="2331720" cy="137160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of where the market will land in 2028 — architecturally. No competitor combines MCP-native + self-hosted + composable + workspace-isolated.</a:t>
            </a:r>
            <a:endParaRPr lang="en-US" sz="1100" dirty="0"/>
          </a:p>
        </p:txBody>
      </p:sp>
      <p:sp>
        <p:nvSpPr>
          <p:cNvPr id="9" name="Shape 6"/>
          <p:cNvSpPr/>
          <p:nvPr/>
        </p:nvSpPr>
        <p:spPr>
          <a:xfrm>
            <a:off x="3291840" y="1463040"/>
            <a:ext cx="2606040" cy="27432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0" name="Shape 7"/>
          <p:cNvSpPr/>
          <p:nvPr/>
        </p:nvSpPr>
        <p:spPr>
          <a:xfrm>
            <a:off x="3291840" y="1463040"/>
            <a:ext cx="2606040" cy="73152"/>
          </a:xfrm>
          <a:prstGeom prst="rect">
            <a:avLst/>
          </a:prstGeom>
          <a:solidFill>
            <a:srgbClr val="F59E0B"/>
          </a:solidFill>
          <a:ln/>
        </p:spPr>
      </p:sp>
      <p:pic>
        <p:nvPicPr>
          <p:cNvPr id="11" name="Image 1" descr="preencoded.png">    </p:cNvPr>
          <p:cNvPicPr>
            <a:picLocks noChangeAspect="1"/>
          </p:cNvPicPr>
          <p:nvPr/>
        </p:nvPicPr>
        <p:blipFill>
          <a:blip r:embed="rId2"/>
          <a:stretch>
            <a:fillRect/>
          </a:stretch>
        </p:blipFill>
        <p:spPr>
          <a:xfrm>
            <a:off x="3474720" y="1691640"/>
            <a:ext cx="411480" cy="411480"/>
          </a:xfrm>
          <a:prstGeom prst="rect">
            <a:avLst/>
          </a:prstGeom>
        </p:spPr>
      </p:pic>
      <p:sp>
        <p:nvSpPr>
          <p:cNvPr id="12" name="Text 8"/>
          <p:cNvSpPr/>
          <p:nvPr/>
        </p:nvSpPr>
        <p:spPr>
          <a:xfrm>
            <a:off x="3474720" y="2194560"/>
            <a:ext cx="2331720" cy="5486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18 months behind</a:t>
            </a:r>
            <a:endParaRPr lang="en-US" sz="1800" dirty="0"/>
          </a:p>
        </p:txBody>
      </p:sp>
      <p:sp>
        <p:nvSpPr>
          <p:cNvPr id="13" name="Text 9"/>
          <p:cNvSpPr/>
          <p:nvPr/>
        </p:nvSpPr>
        <p:spPr>
          <a:xfrm>
            <a:off x="3474720" y="2788920"/>
            <a:ext cx="2331720" cy="137160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Glean, Notion, and Microsoft on enterprise distribution. The product is good; the GTM has not started.</a:t>
            </a:r>
            <a:endParaRPr lang="en-US" sz="1100" dirty="0"/>
          </a:p>
        </p:txBody>
      </p:sp>
      <p:sp>
        <p:nvSpPr>
          <p:cNvPr id="14" name="Shape 10"/>
          <p:cNvSpPr/>
          <p:nvPr/>
        </p:nvSpPr>
        <p:spPr>
          <a:xfrm>
            <a:off x="6126480" y="1463040"/>
            <a:ext cx="2606040" cy="27432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5" name="Shape 11"/>
          <p:cNvSpPr/>
          <p:nvPr/>
        </p:nvSpPr>
        <p:spPr>
          <a:xfrm>
            <a:off x="6126480" y="1463040"/>
            <a:ext cx="2606040" cy="73152"/>
          </a:xfrm>
          <a:prstGeom prst="rect">
            <a:avLst/>
          </a:prstGeom>
          <a:solidFill>
            <a:srgbClr val="4F46E5"/>
          </a:solidFill>
          <a:ln/>
        </p:spPr>
      </p:sp>
      <p:pic>
        <p:nvPicPr>
          <p:cNvPr id="16" name="Image 2" descr="preencoded.png">    </p:cNvPr>
          <p:cNvPicPr>
            <a:picLocks noChangeAspect="1"/>
          </p:cNvPicPr>
          <p:nvPr/>
        </p:nvPicPr>
        <p:blipFill>
          <a:blip r:embed="rId3"/>
          <a:stretch>
            <a:fillRect/>
          </a:stretch>
        </p:blipFill>
        <p:spPr>
          <a:xfrm>
            <a:off x="6309360" y="1691640"/>
            <a:ext cx="411480" cy="411480"/>
          </a:xfrm>
          <a:prstGeom prst="rect">
            <a:avLst/>
          </a:prstGeom>
        </p:spPr>
      </p:pic>
      <p:sp>
        <p:nvSpPr>
          <p:cNvPr id="17" name="Text 12"/>
          <p:cNvSpPr/>
          <p:nvPr/>
        </p:nvSpPr>
        <p:spPr>
          <a:xfrm>
            <a:off x="6309360" y="2194560"/>
            <a:ext cx="2331720" cy="5486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Right first move</a:t>
            </a:r>
            <a:endParaRPr lang="en-US" sz="1800" dirty="0"/>
          </a:p>
        </p:txBody>
      </p:sp>
      <p:sp>
        <p:nvSpPr>
          <p:cNvPr id="18" name="Text 13"/>
          <p:cNvSpPr/>
          <p:nvPr/>
        </p:nvSpPr>
        <p:spPr>
          <a:xfrm>
            <a:off x="6309360" y="2788920"/>
            <a:ext cx="2331720" cy="137160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Win the AI-power-user developer cohort decisively in the next 2-3 quarters: license clarity, marketing site, benchmarks, one-command install, ship federation.</a:t>
            </a:r>
            <a:endParaRPr lang="en-US" sz="1100" dirty="0"/>
          </a:p>
        </p:txBody>
      </p:sp>
      <p:sp>
        <p:nvSpPr>
          <p:cNvPr id="19" name="Shape 14"/>
          <p:cNvSpPr/>
          <p:nvPr/>
        </p:nvSpPr>
        <p:spPr>
          <a:xfrm>
            <a:off x="457200" y="4389120"/>
            <a:ext cx="8229600" cy="457200"/>
          </a:xfrm>
          <a:prstGeom prst="rect">
            <a:avLst/>
          </a:prstGeom>
          <a:solidFill>
            <a:srgbClr val="0A1628"/>
          </a:solidFill>
          <a:ln/>
        </p:spPr>
      </p:sp>
      <p:sp>
        <p:nvSpPr>
          <p:cNvPr id="20" name="Text 15"/>
          <p:cNvSpPr/>
          <p:nvPr/>
        </p:nvSpPr>
        <p:spPr>
          <a:xfrm>
            <a:off x="640080" y="4389120"/>
            <a:ext cx="7955280" cy="457200"/>
          </a:xfrm>
          <a:prstGeom prst="rect">
            <a:avLst/>
          </a:prstGeom>
          <a:noFill/>
          <a:ln/>
        </p:spPr>
        <p:txBody>
          <a:bodyPr wrap="square" lIns="0" tIns="0" rIns="0" bIns="0" rtlCol="0" anchor="ctr"/>
          <a:lstStyle/>
          <a:p>
            <a:pPr indent="0" marL="0">
              <a:buNone/>
            </a:pPr>
            <a:r>
              <a:rPr lang="en-US" sz="1050" i="1" dirty="0">
                <a:solidFill>
                  <a:srgbClr val="F59E0B"/>
                </a:solidFill>
                <a:latin typeface="Calibri" pitchFamily="34" charset="0"/>
                <a:ea typeface="Calibri" pitchFamily="34" charset="-122"/>
                <a:cs typeface="Calibri" pitchFamily="34" charset="-120"/>
              </a:rPr>
              <a:t>The risk is not the competition. The risk is staying invisible while the competition learns from the same architectural insights and ships them inside their existing distribution.</a:t>
            </a:r>
            <a:endParaRPr lang="en-US" sz="1050" dirty="0"/>
          </a:p>
        </p:txBody>
      </p:sp>
      <p:sp>
        <p:nvSpPr>
          <p:cNvPr id="21" name="Text 16"/>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15</a:t>
            </a:r>
            <a:endParaRPr lang="en-US" sz="900" dirty="0"/>
          </a:p>
        </p:txBody>
      </p:sp>
      <p:sp>
        <p:nvSpPr>
          <p:cNvPr id="22" name="Text 17"/>
          <p:cNvSpPr/>
          <p:nvPr/>
        </p:nvSpPr>
        <p:spPr>
          <a:xfrm>
            <a:off x="365760" y="484632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13 — Strategic read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F46E5"/>
          </a:solidFill>
          <a:ln/>
        </p:spPr>
      </p:sp>
      <p:sp>
        <p:nvSpPr>
          <p:cNvPr id="3" name="Text 1"/>
          <p:cNvSpPr/>
          <p:nvPr/>
        </p:nvSpPr>
        <p:spPr>
          <a:xfrm>
            <a:off x="822960" y="457200"/>
            <a:ext cx="7772400" cy="36576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822960" y="822960"/>
            <a:ext cx="77724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Methodology, sources &amp; what's next</a:t>
            </a:r>
            <a:endParaRPr lang="en-US" sz="3000" dirty="0"/>
          </a:p>
        </p:txBody>
      </p:sp>
      <p:sp>
        <p:nvSpPr>
          <p:cNvPr id="5" name="Text 3"/>
          <p:cNvSpPr/>
          <p:nvPr/>
        </p:nvSpPr>
        <p:spPr>
          <a:xfrm>
            <a:off x="822960" y="1691640"/>
            <a:ext cx="3657600" cy="228600"/>
          </a:xfrm>
          <a:prstGeom prst="rect">
            <a:avLst/>
          </a:prstGeom>
          <a:noFill/>
          <a:ln/>
        </p:spPr>
        <p:txBody>
          <a:bodyPr wrap="square" lIns="0" tIns="0" rIns="0" bIns="0"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METHODOLOGY</a:t>
            </a:r>
            <a:endParaRPr lang="en-US" sz="900" dirty="0"/>
          </a:p>
        </p:txBody>
      </p:sp>
      <p:sp>
        <p:nvSpPr>
          <p:cNvPr id="6" name="Text 4"/>
          <p:cNvSpPr/>
          <p:nvPr/>
        </p:nvSpPr>
        <p:spPr>
          <a:xfrm>
            <a:off x="822960" y="1965960"/>
            <a:ext cx="3657600" cy="25603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Direct repo audit of Cortex 0.2 (shipped surface area, MCP tools, adapters, pipelines, dashboard)</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Web research across 14 competitors (May 2026 data)</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Cross-segment capability matrix in the companion markdown brief</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Ratings calibrated to product reality, not marketing claims</a:t>
            </a:r>
            <a:endParaRPr lang="en-US" sz="1100" dirty="0"/>
          </a:p>
        </p:txBody>
      </p:sp>
      <p:sp>
        <p:nvSpPr>
          <p:cNvPr id="7" name="Text 5"/>
          <p:cNvSpPr/>
          <p:nvPr/>
        </p:nvSpPr>
        <p:spPr>
          <a:xfrm>
            <a:off x="4754880" y="1691640"/>
            <a:ext cx="3657600" cy="228600"/>
          </a:xfrm>
          <a:prstGeom prst="rect">
            <a:avLst/>
          </a:prstGeom>
          <a:noFill/>
          <a:ln/>
        </p:spPr>
        <p:txBody>
          <a:bodyPr wrap="square" lIns="0" tIns="0" rIns="0" bIns="0"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KEY SOURCES</a:t>
            </a:r>
            <a:endParaRPr lang="en-US" sz="900" dirty="0"/>
          </a:p>
        </p:txBody>
      </p:sp>
      <p:sp>
        <p:nvSpPr>
          <p:cNvPr id="8" name="Text 6"/>
          <p:cNvSpPr/>
          <p:nvPr/>
        </p:nvSpPr>
        <p:spPr>
          <a:xfrm>
            <a:off x="4754880" y="1965960"/>
            <a:ext cx="3840480" cy="25603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glean.com · checkthat.ai (Glean pricing)</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atlassian.com/software/rovo · constellationr.com</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learn.microsoft.com/microsoft-365/copilot</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mem0.ai · getzep.com · letta.com · cognee.ai</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notion.com · eesel.ai (Notion AI review)</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simonwillison.net (Claude memory)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Companion markdown brief: docs/COMPETITIVE-ANALYSIS.md</a:t>
            </a:r>
            <a:endParaRPr lang="en-US" sz="1100" dirty="0"/>
          </a:p>
        </p:txBody>
      </p:sp>
      <p:sp>
        <p:nvSpPr>
          <p:cNvPr id="9" name="Text 7"/>
          <p:cNvSpPr/>
          <p:nvPr/>
        </p:nvSpPr>
        <p:spPr>
          <a:xfrm>
            <a:off x="822960" y="4754880"/>
            <a:ext cx="7772400" cy="274320"/>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Cortex · OneNomad · May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Cortex — Competitive Market Analysis</dc:title>
  <dc:subject>Strategic positioning + investor readiness</dc:subject>
  <dc:creator>Cortex</dc:creator>
  <cp:lastModifiedBy>Cortex</cp:lastModifiedBy>
  <cp:revision>1</cp:revision>
  <dcterms:created xsi:type="dcterms:W3CDTF">2026-05-12T20:32:56Z</dcterms:created>
  <dcterms:modified xsi:type="dcterms:W3CDTF">2026-05-12T20:32:56Z</dcterms:modified>
</cp:coreProperties>
</file>